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image" Target="../media/image6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8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image" Target="../media/image10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12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Relationship Id="rId3" Type="http://schemas.openxmlformats.org/officeDocument/2006/relationships/image" Target="../media/image14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Relationship Id="rId3" Type="http://schemas.openxmlformats.org/officeDocument/2006/relationships/image" Target="../media/image16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openxmlformats.org/officeDocument/2006/relationships/image" Target="../media/image18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Relationship Id="rId3" Type="http://schemas.openxmlformats.org/officeDocument/2006/relationships/image" Target="../media/image20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image" Target="../media/image22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image" Target="../media/image4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731520" y="-822960"/>
            <a:ext cx="2926080" cy="2926080"/>
          </a:xfrm>
          <a:prstGeom prst="ellipse">
            <a:avLst/>
          </a:prstGeom>
          <a:solidFill>
            <a:srgbClr val="FFD6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607040" y="-548640"/>
            <a:ext cx="2377440" cy="2377440"/>
          </a:xfrm>
          <a:prstGeom prst="ellipse">
            <a:avLst/>
          </a:prstGeom>
          <a:solidFill>
            <a:srgbClr val="D6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155680" y="5303520"/>
            <a:ext cx="1828800" cy="1828800"/>
          </a:xfrm>
          <a:prstGeom prst="ellipse">
            <a:avLst/>
          </a:prstGeom>
          <a:solidFill>
            <a:srgbClr val="FFEC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-457200" y="5852160"/>
            <a:ext cx="1645920" cy="1645920"/>
          </a:xfrm>
          <a:prstGeom prst="ellipse">
            <a:avLst/>
          </a:prstGeom>
          <a:solidFill>
            <a:srgbClr val="D8F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5-Point Star 6"/>
          <p:cNvSpPr/>
          <p:nvPr/>
        </p:nvSpPr>
        <p:spPr>
          <a:xfrm>
            <a:off x="11475720" y="868680"/>
            <a:ext cx="347472" cy="347472"/>
          </a:xfrm>
          <a:prstGeom prst="star5">
            <a:avLst/>
          </a:prstGeom>
          <a:solidFill>
            <a:srgbClr val="FFD0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5-Point Star 7"/>
          <p:cNvSpPr/>
          <p:nvPr/>
        </p:nvSpPr>
        <p:spPr>
          <a:xfrm>
            <a:off x="256032" y="5989320"/>
            <a:ext cx="292608" cy="292608"/>
          </a:xfrm>
          <a:prstGeom prst="star5">
            <a:avLst/>
          </a:prstGeom>
          <a:solidFill>
            <a:srgbClr val="FF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937760" y="-1097280"/>
            <a:ext cx="7498079" cy="7498079"/>
          </a:xfrm>
          <a:prstGeom prst="ellipse">
            <a:avLst/>
          </a:prstGeom>
          <a:solidFill>
            <a:srgbClr val="FFE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502920"/>
            <a:ext cx="65836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5C8A"/>
                </a:solidFill>
                <a:latin typeface="Hiragino Sans GB"/>
                <a:ea typeface="Hiragino Sans GB"/>
                <a:cs typeface="Hiragino Sans GB"/>
              </a:rPr>
              <a:t>國中生活科技／家政課  ·  動手做甜點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960120"/>
            <a:ext cx="7315200" cy="1554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3A2A42"/>
                </a:solidFill>
                <a:latin typeface="Hiragino Sans GB"/>
                <a:ea typeface="Hiragino Sans GB"/>
                <a:cs typeface="Hiragino Sans GB"/>
              </a:rPr>
              <a:t>今天做兩款
超可愛中式甜點！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606040"/>
            <a:ext cx="694944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7A6478"/>
                </a:solidFill>
                <a:latin typeface="Hiragino Sans GB"/>
                <a:ea typeface="Hiragino Sans GB"/>
                <a:cs typeface="Hiragino Sans GB"/>
              </a:rPr>
              <a:t>青花瓷山藥糕  +  雪梨菊花銀耳凍
看圖就能做，步驟簡單、顏色超開心。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520440"/>
            <a:ext cx="1965960" cy="384048"/>
          </a:xfrm>
          <a:prstGeom prst="roundRect">
            <a:avLst>
              <a:gd name="adj" fmla="val 50000"/>
            </a:avLst>
          </a:prstGeom>
          <a:solidFill>
            <a:srgbClr val="4DC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3520440"/>
            <a:ext cx="1965960" cy="38404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免烤箱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743200" y="3520440"/>
            <a:ext cx="2148840" cy="384048"/>
          </a:xfrm>
          <a:prstGeom prst="roundRect">
            <a:avLst>
              <a:gd name="adj" fmla="val 50000"/>
            </a:avLst>
          </a:prstGeom>
          <a:solidFill>
            <a:srgbClr val="2ED4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43200" y="3520440"/>
            <a:ext cx="2148840" cy="38404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冷藏就成型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0" y="3520440"/>
            <a:ext cx="1965960" cy="384048"/>
          </a:xfrm>
          <a:prstGeom prst="roundRect">
            <a:avLst>
              <a:gd name="adj" fmla="val 50000"/>
            </a:avLst>
          </a:prstGeom>
          <a:solidFill>
            <a:srgbClr val="FF9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0" y="3520440"/>
            <a:ext cx="1965960" cy="38404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好看又好吃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635240" y="777240"/>
            <a:ext cx="4069080" cy="2331720"/>
          </a:xfrm>
          <a:prstGeom prst="roundRect">
            <a:avLst>
              <a:gd name="adj" fmla="val 8000"/>
            </a:avLst>
          </a:prstGeom>
          <a:solidFill>
            <a:srgbClr val="5B8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699248" y="841248"/>
            <a:ext cx="3941064" cy="2203704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qh_her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6680" y="868680"/>
            <a:ext cx="3886200" cy="2148840"/>
          </a:xfrm>
          <a:prstGeom prst="rect">
            <a:avLst/>
          </a:prstGeom>
        </p:spPr>
      </p:pic>
      <p:sp>
        <p:nvSpPr>
          <p:cNvPr id="22" name="Rounded Rectangle 21"/>
          <p:cNvSpPr/>
          <p:nvPr/>
        </p:nvSpPr>
        <p:spPr>
          <a:xfrm>
            <a:off x="7635240" y="3291840"/>
            <a:ext cx="4069080" cy="2331720"/>
          </a:xfrm>
          <a:prstGeom prst="roundRect">
            <a:avLst>
              <a:gd name="adj" fmla="val 8000"/>
            </a:avLst>
          </a:prstGeom>
          <a:solidFill>
            <a:srgbClr val="FFD0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699248" y="3355848"/>
            <a:ext cx="3941064" cy="2203704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xl_her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6680" y="3383280"/>
            <a:ext cx="3886200" cy="214884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640080" y="5989320"/>
            <a:ext cx="67665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7A6478"/>
                </a:solidFill>
                <a:latin typeface="Hiragino Sans GB"/>
                <a:ea typeface="Hiragino Sans GB"/>
                <a:cs typeface="Hiragino Sans GB"/>
              </a:rPr>
              <a:t>畫面來自原影片，照著做就對了。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6528816"/>
            <a:ext cx="877824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A6478"/>
                </a:solidFill>
                <a:latin typeface="Hiragino Sans GB"/>
                <a:ea typeface="Hiragino Sans GB"/>
                <a:cs typeface="Hiragino Sans GB"/>
              </a:rPr>
              <a:t>中式甜點動手做  ·  給國中同學的快樂食譜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378440" y="6510528"/>
            <a:ext cx="1325880" cy="256032"/>
          </a:xfrm>
          <a:prstGeom prst="roundRect">
            <a:avLst>
              <a:gd name="adj" fmla="val 50000"/>
            </a:avLst>
          </a:prstGeom>
          <a:solidFill>
            <a:srgbClr val="FF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378440" y="6510528"/>
            <a:ext cx="13258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1 / 17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731520" y="-822960"/>
            <a:ext cx="2926080" cy="2926080"/>
          </a:xfrm>
          <a:prstGeom prst="ellipse">
            <a:avLst/>
          </a:prstGeom>
          <a:solidFill>
            <a:srgbClr val="FFD6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607040" y="-548640"/>
            <a:ext cx="2377440" cy="2377440"/>
          </a:xfrm>
          <a:prstGeom prst="ellipse">
            <a:avLst/>
          </a:prstGeom>
          <a:solidFill>
            <a:srgbClr val="D6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155680" y="5303520"/>
            <a:ext cx="1828800" cy="1828800"/>
          </a:xfrm>
          <a:prstGeom prst="ellipse">
            <a:avLst/>
          </a:prstGeom>
          <a:solidFill>
            <a:srgbClr val="FFEC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-457200" y="5852160"/>
            <a:ext cx="1645920" cy="1645920"/>
          </a:xfrm>
          <a:prstGeom prst="ellipse">
            <a:avLst/>
          </a:prstGeom>
          <a:solidFill>
            <a:srgbClr val="D8F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5-Point Star 6"/>
          <p:cNvSpPr/>
          <p:nvPr/>
        </p:nvSpPr>
        <p:spPr>
          <a:xfrm>
            <a:off x="11475720" y="868680"/>
            <a:ext cx="347472" cy="347472"/>
          </a:xfrm>
          <a:prstGeom prst="star5">
            <a:avLst/>
          </a:prstGeom>
          <a:solidFill>
            <a:srgbClr val="FFD0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5-Point Star 7"/>
          <p:cNvSpPr/>
          <p:nvPr/>
        </p:nvSpPr>
        <p:spPr>
          <a:xfrm>
            <a:off x="256032" y="5989320"/>
            <a:ext cx="292608" cy="292608"/>
          </a:xfrm>
          <a:prstGeom prst="star5">
            <a:avLst/>
          </a:prstGeom>
          <a:solidFill>
            <a:srgbClr val="FF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84048" y="201168"/>
            <a:ext cx="11430000" cy="713232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84048" y="201168"/>
            <a:ext cx="146304" cy="713232"/>
          </a:xfrm>
          <a:prstGeom prst="roundRect">
            <a:avLst>
              <a:gd name="adj" fmla="val 40000"/>
            </a:avLst>
          </a:prstGeom>
          <a:solidFill>
            <a:srgbClr val="FF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201168"/>
            <a:ext cx="804672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5C8A"/>
                </a:solidFill>
                <a:latin typeface="Hiragino Sans GB"/>
                <a:ea typeface="Hiragino Sans GB"/>
                <a:cs typeface="Hiragino Sans GB"/>
              </a:rPr>
              <a:t>今天的甜點課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420624"/>
            <a:ext cx="10789920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3A2A42"/>
                </a:solidFill>
                <a:latin typeface="Hiragino Sans GB"/>
                <a:ea typeface="Hiragino Sans GB"/>
                <a:cs typeface="Hiragino Sans GB"/>
              </a:rPr>
              <a:t>先來看今天的兩位主角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84048" y="1115568"/>
            <a:ext cx="5522976" cy="5074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291072" y="1115568"/>
            <a:ext cx="5522976" cy="5074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85216" y="1280160"/>
            <a:ext cx="1097280" cy="384048"/>
          </a:xfrm>
          <a:prstGeom prst="roundRect">
            <a:avLst>
              <a:gd name="adj" fmla="val 50000"/>
            </a:avLst>
          </a:prstGeom>
          <a:solidFill>
            <a:srgbClr val="5B8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85216" y="1280160"/>
            <a:ext cx="1097280" cy="38404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第一款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92240" y="1280160"/>
            <a:ext cx="1097280" cy="384048"/>
          </a:xfrm>
          <a:prstGeom prst="roundRect">
            <a:avLst>
              <a:gd name="adj" fmla="val 50000"/>
            </a:avLst>
          </a:prstGeom>
          <a:solidFill>
            <a:srgbClr val="FF9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1280160"/>
            <a:ext cx="1097280" cy="38404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第二款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83080" y="1261872"/>
            <a:ext cx="3840480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3A2A42"/>
                </a:solidFill>
                <a:latin typeface="Hiragino Sans GB"/>
                <a:ea typeface="Hiragino Sans GB"/>
                <a:cs typeface="Hiragino Sans GB"/>
              </a:rPr>
              <a:t>青花瓷山藥糕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99248" y="1261872"/>
            <a:ext cx="3840480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3A2A42"/>
                </a:solidFill>
                <a:latin typeface="Hiragino Sans GB"/>
                <a:ea typeface="Hiragino Sans GB"/>
                <a:cs typeface="Hiragino Sans GB"/>
              </a:rPr>
              <a:t>雪梨菊花銀耳凍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85216" y="1828800"/>
            <a:ext cx="5120640" cy="2880360"/>
          </a:xfrm>
          <a:prstGeom prst="roundRect">
            <a:avLst>
              <a:gd name="adj" fmla="val 8000"/>
            </a:avLst>
          </a:prstGeom>
          <a:solidFill>
            <a:srgbClr val="5B8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49224" y="1892808"/>
            <a:ext cx="4992624" cy="2752344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qh_don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" y="1920240"/>
            <a:ext cx="4937760" cy="2697480"/>
          </a:xfrm>
          <a:prstGeom prst="rect">
            <a:avLst/>
          </a:prstGeom>
        </p:spPr>
      </p:pic>
      <p:sp>
        <p:nvSpPr>
          <p:cNvPr id="24" name="Rounded Rectangle 23"/>
          <p:cNvSpPr/>
          <p:nvPr/>
        </p:nvSpPr>
        <p:spPr>
          <a:xfrm>
            <a:off x="6492240" y="1828800"/>
            <a:ext cx="5120640" cy="2880360"/>
          </a:xfrm>
          <a:prstGeom prst="roundRect">
            <a:avLst>
              <a:gd name="adj" fmla="val 8000"/>
            </a:avLst>
          </a:prstGeom>
          <a:solidFill>
            <a:srgbClr val="FFD0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556248" y="1892808"/>
            <a:ext cx="4992624" cy="2752344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xl_stack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0" y="1920240"/>
            <a:ext cx="4937760" cy="269748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585216" y="4828032"/>
            <a:ext cx="512064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3A2A42"/>
                </a:solidFill>
                <a:latin typeface="Hiragino Sans GB"/>
                <a:ea typeface="Hiragino Sans GB"/>
                <a:cs typeface="Hiragino Sans GB"/>
              </a:rPr>
              <a:t>藍白雲紋包在透明凍裡，像一塊可以吃的小青花瓷。山藥香糯，外層 Q 彈。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92240" y="4828032"/>
            <a:ext cx="512064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3A2A42"/>
                </a:solidFill>
                <a:latin typeface="Hiragino Sans GB"/>
                <a:ea typeface="Hiragino Sans GB"/>
                <a:cs typeface="Hiragino Sans GB"/>
              </a:rPr>
              <a:t>下面是雪梨銀耳凍，上面再放一顆藏著菊花的水晶球。清甜、潤喉、超漂亮。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6528816"/>
            <a:ext cx="877824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A6478"/>
                </a:solidFill>
                <a:latin typeface="Hiragino Sans GB"/>
                <a:ea typeface="Hiragino Sans GB"/>
                <a:cs typeface="Hiragino Sans GB"/>
              </a:rPr>
              <a:t>中式甜點動手做  ·  給國中同學的快樂食譜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378440" y="6510528"/>
            <a:ext cx="1325880" cy="256032"/>
          </a:xfrm>
          <a:prstGeom prst="roundRect">
            <a:avLst>
              <a:gd name="adj" fmla="val 50000"/>
            </a:avLst>
          </a:prstGeom>
          <a:solidFill>
            <a:srgbClr val="FF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378440" y="6510528"/>
            <a:ext cx="13258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2 / 17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731520" y="-822960"/>
            <a:ext cx="2926080" cy="2926080"/>
          </a:xfrm>
          <a:prstGeom prst="ellipse">
            <a:avLst/>
          </a:prstGeom>
          <a:solidFill>
            <a:srgbClr val="FFD6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607040" y="-548640"/>
            <a:ext cx="2377440" cy="2377440"/>
          </a:xfrm>
          <a:prstGeom prst="ellipse">
            <a:avLst/>
          </a:prstGeom>
          <a:solidFill>
            <a:srgbClr val="D6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155680" y="5303520"/>
            <a:ext cx="1828800" cy="1828800"/>
          </a:xfrm>
          <a:prstGeom prst="ellipse">
            <a:avLst/>
          </a:prstGeom>
          <a:solidFill>
            <a:srgbClr val="FFEC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-457200" y="5852160"/>
            <a:ext cx="1645920" cy="1645920"/>
          </a:xfrm>
          <a:prstGeom prst="ellipse">
            <a:avLst/>
          </a:prstGeom>
          <a:solidFill>
            <a:srgbClr val="D8F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5-Point Star 6"/>
          <p:cNvSpPr/>
          <p:nvPr/>
        </p:nvSpPr>
        <p:spPr>
          <a:xfrm>
            <a:off x="11475720" y="868680"/>
            <a:ext cx="347472" cy="347472"/>
          </a:xfrm>
          <a:prstGeom prst="star5">
            <a:avLst/>
          </a:prstGeom>
          <a:solidFill>
            <a:srgbClr val="FFD0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5-Point Star 7"/>
          <p:cNvSpPr/>
          <p:nvPr/>
        </p:nvSpPr>
        <p:spPr>
          <a:xfrm>
            <a:off x="256032" y="5989320"/>
            <a:ext cx="292608" cy="292608"/>
          </a:xfrm>
          <a:prstGeom prst="star5">
            <a:avLst/>
          </a:prstGeom>
          <a:solidFill>
            <a:srgbClr val="FF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84048" y="201168"/>
            <a:ext cx="11430000" cy="713232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84048" y="201168"/>
            <a:ext cx="146304" cy="713232"/>
          </a:xfrm>
          <a:prstGeom prst="roundRect">
            <a:avLst>
              <a:gd name="adj" fmla="val 40000"/>
            </a:avLst>
          </a:prstGeom>
          <a:solidFill>
            <a:srgbClr val="FF9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201168"/>
            <a:ext cx="804672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9F43"/>
                </a:solidFill>
                <a:latin typeface="Hiragino Sans GB"/>
                <a:ea typeface="Hiragino Sans GB"/>
                <a:cs typeface="Hiragino Sans GB"/>
              </a:rPr>
              <a:t>安全小叮嚀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420624"/>
            <a:ext cx="10789920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3A2A42"/>
                </a:solidFill>
                <a:latin typeface="Hiragino Sans GB"/>
                <a:ea typeface="Hiragino Sans GB"/>
                <a:cs typeface="Hiragino Sans GB"/>
              </a:rPr>
              <a:t>動手前，先記住這 4 件事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84048" y="1115568"/>
            <a:ext cx="5687568" cy="226771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0080" y="1463040"/>
            <a:ext cx="713232" cy="713232"/>
          </a:xfrm>
          <a:prstGeom prst="ellipse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1463040"/>
            <a:ext cx="713232" cy="7132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99616" y="1499616"/>
            <a:ext cx="420624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3A2A42"/>
                </a:solidFill>
                <a:latin typeface="Hiragino Sans GB"/>
                <a:ea typeface="Hiragino Sans GB"/>
                <a:cs typeface="Hiragino Sans GB"/>
              </a:rPr>
              <a:t>刀子請小心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99616" y="2075688"/>
            <a:ext cx="4206240" cy="10058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3A2A42"/>
                </a:solidFill>
                <a:latin typeface="Hiragino Sans GB"/>
                <a:ea typeface="Hiragino Sans GB"/>
                <a:cs typeface="Hiragino Sans GB"/>
              </a:rPr>
              <a:t>削皮、切塊時手指要遠離刀刃。不熟的同學請老師幫忙。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91072" y="1115568"/>
            <a:ext cx="5687568" cy="226771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547104" y="1463040"/>
            <a:ext cx="713232" cy="713232"/>
          </a:xfrm>
          <a:prstGeom prst="ellipse">
            <a:avLst/>
          </a:prstGeom>
          <a:solidFill>
            <a:srgbClr val="FF9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47104" y="1463040"/>
            <a:ext cx="713232" cy="7132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06640" y="1499616"/>
            <a:ext cx="420624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3A2A42"/>
                </a:solidFill>
                <a:latin typeface="Hiragino Sans GB"/>
                <a:ea typeface="Hiragino Sans GB"/>
                <a:cs typeface="Hiragino Sans GB"/>
              </a:rPr>
              <a:t>熱的東西會燙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06640" y="2075688"/>
            <a:ext cx="4206240" cy="10058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3A2A42"/>
                </a:solidFill>
                <a:latin typeface="Hiragino Sans GB"/>
                <a:ea typeface="Hiragino Sans GB"/>
                <a:cs typeface="Hiragino Sans GB"/>
              </a:rPr>
              <a:t>蒸箱、煮沸的湯和模具都燙手。戴隔熱手套，不要急著摸。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84048" y="3584448"/>
            <a:ext cx="5687568" cy="226771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0080" y="3931920"/>
            <a:ext cx="713232" cy="713232"/>
          </a:xfrm>
          <a:prstGeom prst="ellipse">
            <a:avLst/>
          </a:prstGeom>
          <a:solidFill>
            <a:srgbClr val="4DC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3931920"/>
            <a:ext cx="713232" cy="7132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03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99616" y="3968496"/>
            <a:ext cx="420624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3A2A42"/>
                </a:solidFill>
                <a:latin typeface="Hiragino Sans GB"/>
                <a:ea typeface="Hiragino Sans GB"/>
                <a:cs typeface="Hiragino Sans GB"/>
              </a:rPr>
              <a:t>建議戴手套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99616" y="4544568"/>
            <a:ext cx="4206240" cy="10058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3A2A42"/>
                </a:solidFill>
                <a:latin typeface="Hiragino Sans GB"/>
                <a:ea typeface="Hiragino Sans GB"/>
                <a:cs typeface="Hiragino Sans GB"/>
              </a:rPr>
              <a:t>山藥黏手又可能讓皮膚癢，揉麵團時請戴手套。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91072" y="3584448"/>
            <a:ext cx="5687568" cy="226771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547104" y="3931920"/>
            <a:ext cx="713232" cy="713232"/>
          </a:xfrm>
          <a:prstGeom prst="ellipse">
            <a:avLst/>
          </a:prstGeom>
          <a:solidFill>
            <a:srgbClr val="2ED4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47104" y="3931920"/>
            <a:ext cx="713232" cy="7132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04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06640" y="3968496"/>
            <a:ext cx="420624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3A2A42"/>
                </a:solidFill>
                <a:latin typeface="Hiragino Sans GB"/>
                <a:ea typeface="Hiragino Sans GB"/>
                <a:cs typeface="Hiragino Sans GB"/>
              </a:rPr>
              <a:t>白涼粉要煮沸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06640" y="4544568"/>
            <a:ext cx="4206240" cy="10058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3A2A42"/>
                </a:solidFill>
                <a:latin typeface="Hiragino Sans GB"/>
                <a:ea typeface="Hiragino Sans GB"/>
                <a:cs typeface="Hiragino Sans GB"/>
              </a:rPr>
              <a:t>不煮開就不會好好凝固。攪拌到粉完全化開，再倒模。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6528816"/>
            <a:ext cx="877824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A6478"/>
                </a:solidFill>
                <a:latin typeface="Hiragino Sans GB"/>
                <a:ea typeface="Hiragino Sans GB"/>
                <a:cs typeface="Hiragino Sans GB"/>
              </a:rPr>
              <a:t>中式甜點動手做  ·  給國中同學的快樂食譜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0378440" y="6510528"/>
            <a:ext cx="1325880" cy="256032"/>
          </a:xfrm>
          <a:prstGeom prst="roundRect">
            <a:avLst>
              <a:gd name="adj" fmla="val 50000"/>
            </a:avLst>
          </a:prstGeom>
          <a:solidFill>
            <a:srgbClr val="FF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378440" y="6510528"/>
            <a:ext cx="13258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3 / 17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731520" y="-822960"/>
            <a:ext cx="2926080" cy="2926080"/>
          </a:xfrm>
          <a:prstGeom prst="ellipse">
            <a:avLst/>
          </a:prstGeom>
          <a:solidFill>
            <a:srgbClr val="FFD6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607040" y="-548640"/>
            <a:ext cx="2377440" cy="2377440"/>
          </a:xfrm>
          <a:prstGeom prst="ellipse">
            <a:avLst/>
          </a:prstGeom>
          <a:solidFill>
            <a:srgbClr val="D6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155680" y="5303520"/>
            <a:ext cx="1828800" cy="1828800"/>
          </a:xfrm>
          <a:prstGeom prst="ellipse">
            <a:avLst/>
          </a:prstGeom>
          <a:solidFill>
            <a:srgbClr val="FFEC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-457200" y="5852160"/>
            <a:ext cx="1645920" cy="1645920"/>
          </a:xfrm>
          <a:prstGeom prst="ellipse">
            <a:avLst/>
          </a:prstGeom>
          <a:solidFill>
            <a:srgbClr val="D8F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5-Point Star 6"/>
          <p:cNvSpPr/>
          <p:nvPr/>
        </p:nvSpPr>
        <p:spPr>
          <a:xfrm>
            <a:off x="11475720" y="868680"/>
            <a:ext cx="347472" cy="347472"/>
          </a:xfrm>
          <a:prstGeom prst="star5">
            <a:avLst/>
          </a:prstGeom>
          <a:solidFill>
            <a:srgbClr val="FFD0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5-Point Star 7"/>
          <p:cNvSpPr/>
          <p:nvPr/>
        </p:nvSpPr>
        <p:spPr>
          <a:xfrm>
            <a:off x="256032" y="5989320"/>
            <a:ext cx="292608" cy="292608"/>
          </a:xfrm>
          <a:prstGeom prst="star5">
            <a:avLst/>
          </a:prstGeom>
          <a:solidFill>
            <a:srgbClr val="FF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84048" y="201168"/>
            <a:ext cx="11430000" cy="713232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84048" y="201168"/>
            <a:ext cx="146304" cy="713232"/>
          </a:xfrm>
          <a:prstGeom prst="roundRect">
            <a:avLst>
              <a:gd name="adj" fmla="val 40000"/>
            </a:avLst>
          </a:prstGeom>
          <a:solidFill>
            <a:srgbClr val="5B8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201168"/>
            <a:ext cx="804672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5B8DFF"/>
                </a:solidFill>
                <a:latin typeface="Hiragino Sans GB"/>
                <a:ea typeface="Hiragino Sans GB"/>
                <a:cs typeface="Hiragino Sans GB"/>
              </a:rPr>
              <a:t>第一款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420624"/>
            <a:ext cx="10789920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3A2A42"/>
                </a:solidFill>
                <a:latin typeface="Hiragino Sans GB"/>
                <a:ea typeface="Hiragino Sans GB"/>
                <a:cs typeface="Hiragino Sans GB"/>
              </a:rPr>
              <a:t>青花瓷山藥糕｜先把材料排好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84048" y="1115568"/>
            <a:ext cx="5623560" cy="3154680"/>
          </a:xfrm>
          <a:prstGeom prst="roundRect">
            <a:avLst>
              <a:gd name="adj" fmla="val 8000"/>
            </a:avLst>
          </a:prstGeom>
          <a:solidFill>
            <a:srgbClr val="5B8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48056" y="1179576"/>
            <a:ext cx="5495544" cy="3026664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qh_ya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" y="1207008"/>
            <a:ext cx="5440680" cy="2971800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384048" y="4389120"/>
            <a:ext cx="5623560" cy="1828800"/>
          </a:xfrm>
          <a:prstGeom prst="roundRect">
            <a:avLst>
              <a:gd name="adj" fmla="val 8000"/>
            </a:avLst>
          </a:prstGeom>
          <a:solidFill>
            <a:srgbClr val="4DC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48056" y="4453128"/>
            <a:ext cx="5495544" cy="1700784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qh_recip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4480560"/>
            <a:ext cx="5440680" cy="1645920"/>
          </a:xfrm>
          <a:prstGeom prst="rect">
            <a:avLst/>
          </a:prstGeom>
        </p:spPr>
      </p:pic>
      <p:sp>
        <p:nvSpPr>
          <p:cNvPr id="19" name="Rounded Rectangle 18"/>
          <p:cNvSpPr/>
          <p:nvPr/>
        </p:nvSpPr>
        <p:spPr>
          <a:xfrm>
            <a:off x="6217920" y="1115568"/>
            <a:ext cx="5577840" cy="510235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46520" y="1261872"/>
            <a:ext cx="512064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5B8DFF"/>
                </a:solidFill>
                <a:latin typeface="Hiragino Sans GB"/>
                <a:ea typeface="Hiragino Sans GB"/>
                <a:cs typeface="Hiragino Sans GB"/>
              </a:rPr>
              <a:t>山藥團材料</a:t>
            </a:r>
          </a:p>
        </p:txBody>
      </p:sp>
      <p:sp>
        <p:nvSpPr>
          <p:cNvPr id="21" name="Oval 20"/>
          <p:cNvSpPr/>
          <p:nvPr/>
        </p:nvSpPr>
        <p:spPr>
          <a:xfrm>
            <a:off x="6510528" y="1810512"/>
            <a:ext cx="201168" cy="201168"/>
          </a:xfrm>
          <a:prstGeom prst="ellipse">
            <a:avLst/>
          </a:prstGeom>
          <a:solidFill>
            <a:srgbClr val="5B8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12280" y="1737360"/>
            <a:ext cx="219456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3A2A42"/>
                </a:solidFill>
                <a:latin typeface="Hiragino Sans GB"/>
                <a:ea typeface="Hiragino Sans GB"/>
                <a:cs typeface="Hiragino Sans GB"/>
              </a:rPr>
              <a:t>鐵棍山藥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06840" y="1737360"/>
            <a:ext cx="109728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5B8DFF"/>
                </a:solidFill>
                <a:latin typeface="Hiragino Sans GB"/>
                <a:ea typeface="Hiragino Sans GB"/>
                <a:cs typeface="Hiragino Sans GB"/>
              </a:rPr>
              <a:t>320 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104120" y="1737360"/>
            <a:ext cx="146304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7A6478"/>
                </a:solidFill>
                <a:latin typeface="Hiragino Sans GB"/>
                <a:ea typeface="Hiragino Sans GB"/>
                <a:cs typeface="Hiragino Sans GB"/>
              </a:rPr>
              <a:t>選這個口感更粉糯</a:t>
            </a:r>
          </a:p>
        </p:txBody>
      </p:sp>
      <p:sp>
        <p:nvSpPr>
          <p:cNvPr id="25" name="Oval 24"/>
          <p:cNvSpPr/>
          <p:nvPr/>
        </p:nvSpPr>
        <p:spPr>
          <a:xfrm>
            <a:off x="6510528" y="2249424"/>
            <a:ext cx="201168" cy="201168"/>
          </a:xfrm>
          <a:prstGeom prst="ellipse">
            <a:avLst/>
          </a:prstGeom>
          <a:solidFill>
            <a:srgbClr val="5B8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12280" y="2176272"/>
            <a:ext cx="219456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3A2A42"/>
                </a:solidFill>
                <a:latin typeface="Hiragino Sans GB"/>
                <a:ea typeface="Hiragino Sans GB"/>
                <a:cs typeface="Hiragino Sans GB"/>
              </a:rPr>
              <a:t>熟糯米粉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06840" y="2176272"/>
            <a:ext cx="109728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5B8DFF"/>
                </a:solidFill>
                <a:latin typeface="Hiragino Sans GB"/>
                <a:ea typeface="Hiragino Sans GB"/>
                <a:cs typeface="Hiragino Sans GB"/>
              </a:rPr>
              <a:t>25 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104120" y="2176272"/>
            <a:ext cx="146304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7A6478"/>
                </a:solidFill>
                <a:latin typeface="Hiragino Sans GB"/>
                <a:ea typeface="Hiragino Sans GB"/>
                <a:cs typeface="Hiragino Sans GB"/>
              </a:rPr>
              <a:t>讓它能搓成團</a:t>
            </a:r>
          </a:p>
        </p:txBody>
      </p:sp>
      <p:sp>
        <p:nvSpPr>
          <p:cNvPr id="29" name="Oval 28"/>
          <p:cNvSpPr/>
          <p:nvPr/>
        </p:nvSpPr>
        <p:spPr>
          <a:xfrm>
            <a:off x="6510528" y="2688336"/>
            <a:ext cx="201168" cy="201168"/>
          </a:xfrm>
          <a:prstGeom prst="ellipse">
            <a:avLst/>
          </a:prstGeom>
          <a:solidFill>
            <a:srgbClr val="5B8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12280" y="2615184"/>
            <a:ext cx="219456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3A2A42"/>
                </a:solidFill>
                <a:latin typeface="Hiragino Sans GB"/>
                <a:ea typeface="Hiragino Sans GB"/>
                <a:cs typeface="Hiragino Sans GB"/>
              </a:rPr>
              <a:t>白砂糖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06840" y="2615184"/>
            <a:ext cx="109728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5B8DFF"/>
                </a:solidFill>
                <a:latin typeface="Hiragino Sans GB"/>
                <a:ea typeface="Hiragino Sans GB"/>
                <a:cs typeface="Hiragino Sans GB"/>
              </a:rPr>
              <a:t>25 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104120" y="2615184"/>
            <a:ext cx="146304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7A6478"/>
                </a:solidFill>
                <a:latin typeface="Hiragino Sans GB"/>
                <a:ea typeface="Hiragino Sans GB"/>
                <a:cs typeface="Hiragino Sans GB"/>
              </a:rPr>
              <a:t>甜度剛剛好</a:t>
            </a:r>
          </a:p>
        </p:txBody>
      </p:sp>
      <p:sp>
        <p:nvSpPr>
          <p:cNvPr id="33" name="Oval 32"/>
          <p:cNvSpPr/>
          <p:nvPr/>
        </p:nvSpPr>
        <p:spPr>
          <a:xfrm>
            <a:off x="6510528" y="3127248"/>
            <a:ext cx="201168" cy="201168"/>
          </a:xfrm>
          <a:prstGeom prst="ellipse">
            <a:avLst/>
          </a:prstGeom>
          <a:solidFill>
            <a:srgbClr val="5B8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812280" y="3054096"/>
            <a:ext cx="219456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3A2A42"/>
                </a:solidFill>
                <a:latin typeface="Hiragino Sans GB"/>
                <a:ea typeface="Hiragino Sans GB"/>
                <a:cs typeface="Hiragino Sans GB"/>
              </a:rPr>
              <a:t>蝶豆花粉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006840" y="3054096"/>
            <a:ext cx="109728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5B8DFF"/>
                </a:solidFill>
                <a:latin typeface="Hiragino Sans GB"/>
                <a:ea typeface="Hiragino Sans GB"/>
                <a:cs typeface="Hiragino Sans GB"/>
              </a:rPr>
              <a:t>適量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104120" y="3054096"/>
            <a:ext cx="146304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7A6478"/>
                </a:solidFill>
                <a:latin typeface="Hiragino Sans GB"/>
                <a:ea typeface="Hiragino Sans GB"/>
                <a:cs typeface="Hiragino Sans GB"/>
              </a:rPr>
              <a:t>染出青花藍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46520" y="3840480"/>
            <a:ext cx="512064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3A2A42"/>
                </a:solidFill>
                <a:latin typeface="Hiragino Sans GB"/>
                <a:ea typeface="Hiragino Sans GB"/>
                <a:cs typeface="Hiragino Sans GB"/>
              </a:rPr>
              <a:t>透明外衣：椰子水 + 白涼粉（約 10：1）
可包喜歡的餡，也可以不包，直接搓球。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" y="6528816"/>
            <a:ext cx="877824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A6478"/>
                </a:solidFill>
                <a:latin typeface="Hiragino Sans GB"/>
                <a:ea typeface="Hiragino Sans GB"/>
                <a:cs typeface="Hiragino Sans GB"/>
              </a:rPr>
              <a:t>中式甜點動手做  ·  給國中同學的快樂食譜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0378440" y="6510528"/>
            <a:ext cx="1325880" cy="256032"/>
          </a:xfrm>
          <a:prstGeom prst="roundRect">
            <a:avLst>
              <a:gd name="adj" fmla="val 50000"/>
            </a:avLst>
          </a:prstGeom>
          <a:solidFill>
            <a:srgbClr val="FF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378440" y="6510528"/>
            <a:ext cx="13258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4 / 17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731520" y="-822960"/>
            <a:ext cx="2926080" cy="2926080"/>
          </a:xfrm>
          <a:prstGeom prst="ellipse">
            <a:avLst/>
          </a:prstGeom>
          <a:solidFill>
            <a:srgbClr val="FFD6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607040" y="-548640"/>
            <a:ext cx="2377440" cy="2377440"/>
          </a:xfrm>
          <a:prstGeom prst="ellipse">
            <a:avLst/>
          </a:prstGeom>
          <a:solidFill>
            <a:srgbClr val="D6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155680" y="5303520"/>
            <a:ext cx="1828800" cy="1828800"/>
          </a:xfrm>
          <a:prstGeom prst="ellipse">
            <a:avLst/>
          </a:prstGeom>
          <a:solidFill>
            <a:srgbClr val="FFEC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-457200" y="5852160"/>
            <a:ext cx="1645920" cy="1645920"/>
          </a:xfrm>
          <a:prstGeom prst="ellipse">
            <a:avLst/>
          </a:prstGeom>
          <a:solidFill>
            <a:srgbClr val="D8F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5-Point Star 6"/>
          <p:cNvSpPr/>
          <p:nvPr/>
        </p:nvSpPr>
        <p:spPr>
          <a:xfrm>
            <a:off x="11475720" y="868680"/>
            <a:ext cx="347472" cy="347472"/>
          </a:xfrm>
          <a:prstGeom prst="star5">
            <a:avLst/>
          </a:prstGeom>
          <a:solidFill>
            <a:srgbClr val="FFD0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5-Point Star 7"/>
          <p:cNvSpPr/>
          <p:nvPr/>
        </p:nvSpPr>
        <p:spPr>
          <a:xfrm>
            <a:off x="256032" y="5989320"/>
            <a:ext cx="292608" cy="292608"/>
          </a:xfrm>
          <a:prstGeom prst="star5">
            <a:avLst/>
          </a:prstGeom>
          <a:solidFill>
            <a:srgbClr val="FF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84048" y="201168"/>
            <a:ext cx="11430000" cy="713232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84048" y="201168"/>
            <a:ext cx="146304" cy="713232"/>
          </a:xfrm>
          <a:prstGeom prst="roundRect">
            <a:avLst>
              <a:gd name="adj" fmla="val 40000"/>
            </a:avLst>
          </a:prstGeom>
          <a:solidFill>
            <a:srgbClr val="5B8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201168"/>
            <a:ext cx="804672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5B8DFF"/>
                </a:solidFill>
                <a:latin typeface="Hiragino Sans GB"/>
                <a:ea typeface="Hiragino Sans GB"/>
                <a:cs typeface="Hiragino Sans GB"/>
              </a:rPr>
              <a:t>第一款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420624"/>
            <a:ext cx="10789920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3A2A42"/>
                </a:solidFill>
                <a:latin typeface="Hiragino Sans GB"/>
                <a:ea typeface="Hiragino Sans GB"/>
                <a:cs typeface="Hiragino Sans GB"/>
              </a:rPr>
              <a:t>青花瓷山藥糕｜去皮、蒸熟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84048" y="1078992"/>
            <a:ext cx="5522976" cy="52852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85216" y="1243584"/>
            <a:ext cx="1051560" cy="384048"/>
          </a:xfrm>
          <a:prstGeom prst="roundRect">
            <a:avLst>
              <a:gd name="adj" fmla="val 50000"/>
            </a:avLst>
          </a:prstGeom>
          <a:solidFill>
            <a:srgbClr val="5B8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5216" y="1243584"/>
            <a:ext cx="1051560" cy="38404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步驟 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55648" y="1225296"/>
            <a:ext cx="3931920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3A2A42"/>
                </a:solidFill>
                <a:latin typeface="Hiragino Sans GB"/>
                <a:ea typeface="Hiragino Sans GB"/>
                <a:cs typeface="Hiragino Sans GB"/>
              </a:rPr>
              <a:t>選鐵棍山藥，削皮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85216" y="1755648"/>
            <a:ext cx="5120640" cy="2907792"/>
          </a:xfrm>
          <a:prstGeom prst="roundRect">
            <a:avLst>
              <a:gd name="adj" fmla="val 8000"/>
            </a:avLst>
          </a:prstGeom>
          <a:solidFill>
            <a:srgbClr val="5B8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49224" y="1819656"/>
            <a:ext cx="4992624" cy="2779776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qh_pee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" y="1847088"/>
            <a:ext cx="4937760" cy="2724912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40080" y="4773168"/>
            <a:ext cx="5029200" cy="138988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3A2A42"/>
                </a:solidFill>
                <a:latin typeface="Hiragino Sans GB"/>
                <a:ea typeface="Hiragino Sans GB"/>
                <a:cs typeface="Hiragino Sans GB"/>
              </a:rPr>
              <a:t>做糕點要選鐵棍山藥，口感更好。戴手套削皮，黏液比較不會弄到手。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91072" y="1078992"/>
            <a:ext cx="5522976" cy="52852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492240" y="1243584"/>
            <a:ext cx="1051560" cy="384048"/>
          </a:xfrm>
          <a:prstGeom prst="roundRect">
            <a:avLst>
              <a:gd name="adj" fmla="val 50000"/>
            </a:avLst>
          </a:prstGeom>
          <a:solidFill>
            <a:srgbClr val="4DC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0" y="1243584"/>
            <a:ext cx="1051560" cy="38404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步驟 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62672" y="1225296"/>
            <a:ext cx="3931920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3A2A42"/>
                </a:solidFill>
                <a:latin typeface="Hiragino Sans GB"/>
                <a:ea typeface="Hiragino Sans GB"/>
                <a:cs typeface="Hiragino Sans GB"/>
              </a:rPr>
              <a:t>放進蒸烤箱蒸熟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92240" y="1755648"/>
            <a:ext cx="5120640" cy="2907792"/>
          </a:xfrm>
          <a:prstGeom prst="roundRect">
            <a:avLst>
              <a:gd name="adj" fmla="val 8000"/>
            </a:avLst>
          </a:prstGeom>
          <a:solidFill>
            <a:srgbClr val="4DC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556248" y="1819656"/>
            <a:ext cx="4992624" cy="2779776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qh_steam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0" y="1847088"/>
            <a:ext cx="4937760" cy="2724912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6547104" y="4773168"/>
            <a:ext cx="5029200" cy="138988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3A2A42"/>
                </a:solidFill>
                <a:latin typeface="Hiragino Sans GB"/>
                <a:ea typeface="Hiragino Sans GB"/>
                <a:cs typeface="Hiragino Sans GB"/>
              </a:rPr>
              <a:t>去皮後切段或切小塊，放入蒸烤箱蒸到筷子能輕易插入。熱熱的更好壓泥。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6528816"/>
            <a:ext cx="877824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A6478"/>
                </a:solidFill>
                <a:latin typeface="Hiragino Sans GB"/>
                <a:ea typeface="Hiragino Sans GB"/>
                <a:cs typeface="Hiragino Sans GB"/>
              </a:rPr>
              <a:t>中式甜點動手做  ·  給國中同學的快樂食譜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378440" y="6510528"/>
            <a:ext cx="1325880" cy="256032"/>
          </a:xfrm>
          <a:prstGeom prst="roundRect">
            <a:avLst>
              <a:gd name="adj" fmla="val 50000"/>
            </a:avLst>
          </a:prstGeom>
          <a:solidFill>
            <a:srgbClr val="FF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378440" y="6510528"/>
            <a:ext cx="13258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5 / 17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731520" y="-822960"/>
            <a:ext cx="2926080" cy="2926080"/>
          </a:xfrm>
          <a:prstGeom prst="ellipse">
            <a:avLst/>
          </a:prstGeom>
          <a:solidFill>
            <a:srgbClr val="FFD6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607040" y="-548640"/>
            <a:ext cx="2377440" cy="2377440"/>
          </a:xfrm>
          <a:prstGeom prst="ellipse">
            <a:avLst/>
          </a:prstGeom>
          <a:solidFill>
            <a:srgbClr val="D6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155680" y="5303520"/>
            <a:ext cx="1828800" cy="1828800"/>
          </a:xfrm>
          <a:prstGeom prst="ellipse">
            <a:avLst/>
          </a:prstGeom>
          <a:solidFill>
            <a:srgbClr val="FFEC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-457200" y="5852160"/>
            <a:ext cx="1645920" cy="1645920"/>
          </a:xfrm>
          <a:prstGeom prst="ellipse">
            <a:avLst/>
          </a:prstGeom>
          <a:solidFill>
            <a:srgbClr val="D8F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5-Point Star 6"/>
          <p:cNvSpPr/>
          <p:nvPr/>
        </p:nvSpPr>
        <p:spPr>
          <a:xfrm>
            <a:off x="11475720" y="868680"/>
            <a:ext cx="347472" cy="347472"/>
          </a:xfrm>
          <a:prstGeom prst="star5">
            <a:avLst/>
          </a:prstGeom>
          <a:solidFill>
            <a:srgbClr val="FFD0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5-Point Star 7"/>
          <p:cNvSpPr/>
          <p:nvPr/>
        </p:nvSpPr>
        <p:spPr>
          <a:xfrm>
            <a:off x="256032" y="5989320"/>
            <a:ext cx="292608" cy="292608"/>
          </a:xfrm>
          <a:prstGeom prst="star5">
            <a:avLst/>
          </a:prstGeom>
          <a:solidFill>
            <a:srgbClr val="FF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84048" y="201168"/>
            <a:ext cx="11430000" cy="713232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84048" y="201168"/>
            <a:ext cx="146304" cy="713232"/>
          </a:xfrm>
          <a:prstGeom prst="roundRect">
            <a:avLst>
              <a:gd name="adj" fmla="val 40000"/>
            </a:avLst>
          </a:prstGeom>
          <a:solidFill>
            <a:srgbClr val="5B8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201168"/>
            <a:ext cx="804672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5B8DFF"/>
                </a:solidFill>
                <a:latin typeface="Hiragino Sans GB"/>
                <a:ea typeface="Hiragino Sans GB"/>
                <a:cs typeface="Hiragino Sans GB"/>
              </a:rPr>
              <a:t>第一款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420624"/>
            <a:ext cx="10789920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3A2A42"/>
                </a:solidFill>
                <a:latin typeface="Hiragino Sans GB"/>
                <a:ea typeface="Hiragino Sans GB"/>
                <a:cs typeface="Hiragino Sans GB"/>
              </a:rPr>
              <a:t>青花瓷山藥糕｜壓泥、揉團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84048" y="1078992"/>
            <a:ext cx="5522976" cy="52852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85216" y="1243584"/>
            <a:ext cx="1051560" cy="384048"/>
          </a:xfrm>
          <a:prstGeom prst="roundRect">
            <a:avLst>
              <a:gd name="adj" fmla="val 50000"/>
            </a:avLst>
          </a:prstGeom>
          <a:solidFill>
            <a:srgbClr val="B8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5216" y="1243584"/>
            <a:ext cx="1051560" cy="38404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步驟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55648" y="1225296"/>
            <a:ext cx="3931920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3A2A42"/>
                </a:solidFill>
                <a:latin typeface="Hiragino Sans GB"/>
                <a:ea typeface="Hiragino Sans GB"/>
                <a:cs typeface="Hiragino Sans GB"/>
              </a:rPr>
              <a:t>趁熱壓成細泥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85216" y="1755648"/>
            <a:ext cx="5120640" cy="2907792"/>
          </a:xfrm>
          <a:prstGeom prst="roundRect">
            <a:avLst>
              <a:gd name="adj" fmla="val 8000"/>
            </a:avLst>
          </a:prstGeom>
          <a:solidFill>
            <a:srgbClr val="B8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49224" y="1819656"/>
            <a:ext cx="4992624" cy="2779776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qh_mash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" y="1847088"/>
            <a:ext cx="4937760" cy="2724912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40080" y="4773168"/>
            <a:ext cx="5029200" cy="138988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3A2A42"/>
                </a:solidFill>
                <a:latin typeface="Hiragino Sans GB"/>
                <a:ea typeface="Hiragino Sans GB"/>
                <a:cs typeface="Hiragino Sans GB"/>
              </a:rPr>
              <a:t>蒸熟取出，用壓泥器壓到細細滑滑、沒有顆粒。越細，成品越像瓷器。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91072" y="1078992"/>
            <a:ext cx="5522976" cy="52852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492240" y="1243584"/>
            <a:ext cx="1051560" cy="384048"/>
          </a:xfrm>
          <a:prstGeom prst="roundRect">
            <a:avLst>
              <a:gd name="adj" fmla="val 50000"/>
            </a:avLst>
          </a:prstGeom>
          <a:solidFill>
            <a:srgbClr val="FF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0" y="1243584"/>
            <a:ext cx="1051560" cy="38404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步驟 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62672" y="1225296"/>
            <a:ext cx="3931920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3A2A42"/>
                </a:solidFill>
                <a:latin typeface="Hiragino Sans GB"/>
                <a:ea typeface="Hiragino Sans GB"/>
                <a:cs typeface="Hiragino Sans GB"/>
              </a:rPr>
              <a:t>加粉揉成團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92240" y="1755648"/>
            <a:ext cx="5120640" cy="2907792"/>
          </a:xfrm>
          <a:prstGeom prst="roundRect">
            <a:avLst>
              <a:gd name="adj" fmla="val 8000"/>
            </a:avLst>
          </a:prstGeom>
          <a:solidFill>
            <a:srgbClr val="FF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556248" y="1819656"/>
            <a:ext cx="4992624" cy="2779776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qh_knead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0" y="1847088"/>
            <a:ext cx="4937760" cy="2724912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6547104" y="4773168"/>
            <a:ext cx="5029200" cy="138988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3A2A42"/>
                </a:solidFill>
                <a:latin typeface="Hiragino Sans GB"/>
                <a:ea typeface="Hiragino Sans GB"/>
                <a:cs typeface="Hiragino Sans GB"/>
              </a:rPr>
              <a:t>加入熟糯米粉 25g、白砂糖 25g，揉到不黏手的光滑麵團。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6528816"/>
            <a:ext cx="877824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A6478"/>
                </a:solidFill>
                <a:latin typeface="Hiragino Sans GB"/>
                <a:ea typeface="Hiragino Sans GB"/>
                <a:cs typeface="Hiragino Sans GB"/>
              </a:rPr>
              <a:t>中式甜點動手做  ·  給國中同學的快樂食譜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378440" y="6510528"/>
            <a:ext cx="1325880" cy="256032"/>
          </a:xfrm>
          <a:prstGeom prst="roundRect">
            <a:avLst>
              <a:gd name="adj" fmla="val 50000"/>
            </a:avLst>
          </a:prstGeom>
          <a:solidFill>
            <a:srgbClr val="FF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378440" y="6510528"/>
            <a:ext cx="13258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6 / 17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731520" y="-822960"/>
            <a:ext cx="2926080" cy="2926080"/>
          </a:xfrm>
          <a:prstGeom prst="ellipse">
            <a:avLst/>
          </a:prstGeom>
          <a:solidFill>
            <a:srgbClr val="FFD6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607040" y="-548640"/>
            <a:ext cx="2377440" cy="2377440"/>
          </a:xfrm>
          <a:prstGeom prst="ellipse">
            <a:avLst/>
          </a:prstGeom>
          <a:solidFill>
            <a:srgbClr val="D6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155680" y="5303520"/>
            <a:ext cx="1828800" cy="1828800"/>
          </a:xfrm>
          <a:prstGeom prst="ellipse">
            <a:avLst/>
          </a:prstGeom>
          <a:solidFill>
            <a:srgbClr val="FFEC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-457200" y="5852160"/>
            <a:ext cx="1645920" cy="1645920"/>
          </a:xfrm>
          <a:prstGeom prst="ellipse">
            <a:avLst/>
          </a:prstGeom>
          <a:solidFill>
            <a:srgbClr val="D8F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5-Point Star 6"/>
          <p:cNvSpPr/>
          <p:nvPr/>
        </p:nvSpPr>
        <p:spPr>
          <a:xfrm>
            <a:off x="11475720" y="868680"/>
            <a:ext cx="347472" cy="347472"/>
          </a:xfrm>
          <a:prstGeom prst="star5">
            <a:avLst/>
          </a:prstGeom>
          <a:solidFill>
            <a:srgbClr val="FFD0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5-Point Star 7"/>
          <p:cNvSpPr/>
          <p:nvPr/>
        </p:nvSpPr>
        <p:spPr>
          <a:xfrm>
            <a:off x="256032" y="5989320"/>
            <a:ext cx="292608" cy="292608"/>
          </a:xfrm>
          <a:prstGeom prst="star5">
            <a:avLst/>
          </a:prstGeom>
          <a:solidFill>
            <a:srgbClr val="FF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84048" y="201168"/>
            <a:ext cx="11430000" cy="713232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84048" y="201168"/>
            <a:ext cx="146304" cy="713232"/>
          </a:xfrm>
          <a:prstGeom prst="roundRect">
            <a:avLst>
              <a:gd name="adj" fmla="val 40000"/>
            </a:avLst>
          </a:prstGeom>
          <a:solidFill>
            <a:srgbClr val="5B8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201168"/>
            <a:ext cx="804672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5B8DFF"/>
                </a:solidFill>
                <a:latin typeface="Hiragino Sans GB"/>
                <a:ea typeface="Hiragino Sans GB"/>
                <a:cs typeface="Hiragino Sans GB"/>
              </a:rPr>
              <a:t>第一款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420624"/>
            <a:ext cx="10789920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3A2A42"/>
                </a:solidFill>
                <a:latin typeface="Hiragino Sans GB"/>
                <a:ea typeface="Hiragino Sans GB"/>
                <a:cs typeface="Hiragino Sans GB"/>
              </a:rPr>
              <a:t>青花瓷山藥糕｜染青花藍、包餡搓球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84048" y="1078992"/>
            <a:ext cx="5522976" cy="52852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85216" y="1243584"/>
            <a:ext cx="1051560" cy="384048"/>
          </a:xfrm>
          <a:prstGeom prst="roundRect">
            <a:avLst>
              <a:gd name="adj" fmla="val 50000"/>
            </a:avLst>
          </a:prstGeom>
          <a:solidFill>
            <a:srgbClr val="5B8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5216" y="1243584"/>
            <a:ext cx="1051560" cy="38404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步驟 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55648" y="1225296"/>
            <a:ext cx="3931920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3A2A42"/>
                </a:solidFill>
                <a:latin typeface="Hiragino Sans GB"/>
                <a:ea typeface="Hiragino Sans GB"/>
                <a:cs typeface="Hiragino Sans GB"/>
              </a:rPr>
              <a:t>一份加蝶豆花粉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85216" y="1755648"/>
            <a:ext cx="5120640" cy="2907792"/>
          </a:xfrm>
          <a:prstGeom prst="roundRect">
            <a:avLst>
              <a:gd name="adj" fmla="val 8000"/>
            </a:avLst>
          </a:prstGeom>
          <a:solidFill>
            <a:srgbClr val="5B8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49224" y="1819656"/>
            <a:ext cx="4992624" cy="2779776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qh_blu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" y="1847088"/>
            <a:ext cx="4937760" cy="2724912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40080" y="4773168"/>
            <a:ext cx="5029200" cy="138988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3A2A42"/>
                </a:solidFill>
                <a:latin typeface="Hiragino Sans GB"/>
                <a:ea typeface="Hiragino Sans GB"/>
                <a:cs typeface="Hiragino Sans GB"/>
              </a:rPr>
              <a:t>麵團分成兩份。其中一份加少量蝶豆花粉，揉成漂亮的藍色。粉少少加，顏色才清透。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91072" y="1078992"/>
            <a:ext cx="5522976" cy="52852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492240" y="1243584"/>
            <a:ext cx="1051560" cy="384048"/>
          </a:xfrm>
          <a:prstGeom prst="roundRect">
            <a:avLst>
              <a:gd name="adj" fmla="val 50000"/>
            </a:avLst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0" y="1243584"/>
            <a:ext cx="1051560" cy="38404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步驟 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62672" y="1225296"/>
            <a:ext cx="3931920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3A2A42"/>
                </a:solidFill>
                <a:latin typeface="Hiragino Sans GB"/>
                <a:ea typeface="Hiragino Sans GB"/>
                <a:cs typeface="Hiragino Sans GB"/>
              </a:rPr>
              <a:t>雙色混合，可包餡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92240" y="1755648"/>
            <a:ext cx="5120640" cy="2907792"/>
          </a:xfrm>
          <a:prstGeom prst="roundRect">
            <a:avLst>
              <a:gd name="adj" fmla="val 8000"/>
            </a:avLst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556248" y="1819656"/>
            <a:ext cx="4992624" cy="2779776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qh_fill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0" y="1847088"/>
            <a:ext cx="4937760" cy="2724912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6547104" y="4773168"/>
            <a:ext cx="5029200" cy="138988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3A2A42"/>
                </a:solidFill>
                <a:latin typeface="Hiragino Sans GB"/>
                <a:ea typeface="Hiragino Sans GB"/>
                <a:cs typeface="Hiragino Sans GB"/>
              </a:rPr>
              <a:t>藍白兩色輕輕捏在一起，不要揉太勻，才有雲紋。可包喜歡的餡，再搓成圓球。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6528816"/>
            <a:ext cx="877824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A6478"/>
                </a:solidFill>
                <a:latin typeface="Hiragino Sans GB"/>
                <a:ea typeface="Hiragino Sans GB"/>
                <a:cs typeface="Hiragino Sans GB"/>
              </a:rPr>
              <a:t>中式甜點動手做  ·  給國中同學的快樂食譜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378440" y="6510528"/>
            <a:ext cx="1325880" cy="256032"/>
          </a:xfrm>
          <a:prstGeom prst="roundRect">
            <a:avLst>
              <a:gd name="adj" fmla="val 50000"/>
            </a:avLst>
          </a:prstGeom>
          <a:solidFill>
            <a:srgbClr val="FF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378440" y="6510528"/>
            <a:ext cx="13258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7 / 17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731520" y="-822960"/>
            <a:ext cx="2926080" cy="2926080"/>
          </a:xfrm>
          <a:prstGeom prst="ellipse">
            <a:avLst/>
          </a:prstGeom>
          <a:solidFill>
            <a:srgbClr val="FFD6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607040" y="-548640"/>
            <a:ext cx="2377440" cy="2377440"/>
          </a:xfrm>
          <a:prstGeom prst="ellipse">
            <a:avLst/>
          </a:prstGeom>
          <a:solidFill>
            <a:srgbClr val="D6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155680" y="5303520"/>
            <a:ext cx="1828800" cy="1828800"/>
          </a:xfrm>
          <a:prstGeom prst="ellipse">
            <a:avLst/>
          </a:prstGeom>
          <a:solidFill>
            <a:srgbClr val="FFEC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-457200" y="5852160"/>
            <a:ext cx="1645920" cy="1645920"/>
          </a:xfrm>
          <a:prstGeom prst="ellipse">
            <a:avLst/>
          </a:prstGeom>
          <a:solidFill>
            <a:srgbClr val="D8F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5-Point Star 6"/>
          <p:cNvSpPr/>
          <p:nvPr/>
        </p:nvSpPr>
        <p:spPr>
          <a:xfrm>
            <a:off x="11475720" y="868680"/>
            <a:ext cx="347472" cy="347472"/>
          </a:xfrm>
          <a:prstGeom prst="star5">
            <a:avLst/>
          </a:prstGeom>
          <a:solidFill>
            <a:srgbClr val="FFD0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5-Point Star 7"/>
          <p:cNvSpPr/>
          <p:nvPr/>
        </p:nvSpPr>
        <p:spPr>
          <a:xfrm>
            <a:off x="256032" y="5989320"/>
            <a:ext cx="292608" cy="292608"/>
          </a:xfrm>
          <a:prstGeom prst="star5">
            <a:avLst/>
          </a:prstGeom>
          <a:solidFill>
            <a:srgbClr val="FF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84048" y="201168"/>
            <a:ext cx="11430000" cy="713232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84048" y="201168"/>
            <a:ext cx="146304" cy="713232"/>
          </a:xfrm>
          <a:prstGeom prst="roundRect">
            <a:avLst>
              <a:gd name="adj" fmla="val 40000"/>
            </a:avLst>
          </a:prstGeom>
          <a:solidFill>
            <a:srgbClr val="5B8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201168"/>
            <a:ext cx="804672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5B8DFF"/>
                </a:solidFill>
                <a:latin typeface="Hiragino Sans GB"/>
                <a:ea typeface="Hiragino Sans GB"/>
                <a:cs typeface="Hiragino Sans GB"/>
              </a:rPr>
              <a:t>第一款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420624"/>
            <a:ext cx="10789920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3A2A42"/>
                </a:solidFill>
                <a:latin typeface="Hiragino Sans GB"/>
                <a:ea typeface="Hiragino Sans GB"/>
                <a:cs typeface="Hiragino Sans GB"/>
              </a:rPr>
              <a:t>青花瓷山藥糕｜做透明外衣、入模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84048" y="1078992"/>
            <a:ext cx="5522976" cy="52852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85216" y="1243584"/>
            <a:ext cx="1051560" cy="384048"/>
          </a:xfrm>
          <a:prstGeom prst="roundRect">
            <a:avLst>
              <a:gd name="adj" fmla="val 50000"/>
            </a:avLst>
          </a:prstGeom>
          <a:solidFill>
            <a:srgbClr val="2ED4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5216" y="1243584"/>
            <a:ext cx="1051560" cy="38404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步驟 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55648" y="1225296"/>
            <a:ext cx="3931920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3A2A42"/>
                </a:solidFill>
                <a:latin typeface="Hiragino Sans GB"/>
                <a:ea typeface="Hiragino Sans GB"/>
                <a:cs typeface="Hiragino Sans GB"/>
              </a:rPr>
              <a:t>椰子水加白涼粉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85216" y="1755648"/>
            <a:ext cx="5120640" cy="2907792"/>
          </a:xfrm>
          <a:prstGeom prst="roundRect">
            <a:avLst>
              <a:gd name="adj" fmla="val 8000"/>
            </a:avLst>
          </a:prstGeom>
          <a:solidFill>
            <a:srgbClr val="2ED4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49224" y="1819656"/>
            <a:ext cx="4992624" cy="2779776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qh_whis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" y="1847088"/>
            <a:ext cx="4937760" cy="2724912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40080" y="4773168"/>
            <a:ext cx="5029200" cy="138988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3A2A42"/>
                </a:solidFill>
                <a:latin typeface="Hiragino Sans GB"/>
                <a:ea typeface="Hiragino Sans GB"/>
                <a:cs typeface="Hiragino Sans GB"/>
              </a:rPr>
              <a:t>椰子水加白涼粉攪勻，煮沸。比例大約 10：1，例如 150 毫升椰子水配 15 克白涼粉。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91072" y="1078992"/>
            <a:ext cx="5522976" cy="52852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492240" y="1243584"/>
            <a:ext cx="1051560" cy="384048"/>
          </a:xfrm>
          <a:prstGeom prst="roundRect">
            <a:avLst>
              <a:gd name="adj" fmla="val 50000"/>
            </a:avLst>
          </a:prstGeom>
          <a:solidFill>
            <a:srgbClr val="4DC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0" y="1243584"/>
            <a:ext cx="1051560" cy="38404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步驟 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62672" y="1225296"/>
            <a:ext cx="3931920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3A2A42"/>
                </a:solidFill>
                <a:latin typeface="Hiragino Sans GB"/>
                <a:ea typeface="Hiragino Sans GB"/>
                <a:cs typeface="Hiragino Sans GB"/>
              </a:rPr>
              <a:t>倒模 → 放山藥團 → 再倒滿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92240" y="1755648"/>
            <a:ext cx="5120640" cy="2907792"/>
          </a:xfrm>
          <a:prstGeom prst="roundRect">
            <a:avLst>
              <a:gd name="adj" fmla="val 8000"/>
            </a:avLst>
          </a:prstGeom>
          <a:solidFill>
            <a:srgbClr val="4DC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556248" y="1819656"/>
            <a:ext cx="4992624" cy="2779776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qh_se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0" y="1847088"/>
            <a:ext cx="4937760" cy="2724912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6547104" y="4773168"/>
            <a:ext cx="5029200" cy="138988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3A2A42"/>
                </a:solidFill>
                <a:latin typeface="Hiragino Sans GB"/>
                <a:ea typeface="Hiragino Sans GB"/>
                <a:cs typeface="Hiragino Sans GB"/>
              </a:rPr>
              <a:t>先倒一層進模具，稍稍定型後放入山藥團，再倒滿。冷藏定型，脫模就完成了！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6528816"/>
            <a:ext cx="877824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A6478"/>
                </a:solidFill>
                <a:latin typeface="Hiragino Sans GB"/>
                <a:ea typeface="Hiragino Sans GB"/>
                <a:cs typeface="Hiragino Sans GB"/>
              </a:rPr>
              <a:t>中式甜點動手做  ·  給國中同學的快樂食譜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378440" y="6510528"/>
            <a:ext cx="1325880" cy="256032"/>
          </a:xfrm>
          <a:prstGeom prst="roundRect">
            <a:avLst>
              <a:gd name="adj" fmla="val 50000"/>
            </a:avLst>
          </a:prstGeom>
          <a:solidFill>
            <a:srgbClr val="FF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378440" y="6510528"/>
            <a:ext cx="13258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8 / 17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731520" y="-822960"/>
            <a:ext cx="2926080" cy="2926080"/>
          </a:xfrm>
          <a:prstGeom prst="ellipse">
            <a:avLst/>
          </a:prstGeom>
          <a:solidFill>
            <a:srgbClr val="FFD6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607040" y="-548640"/>
            <a:ext cx="2377440" cy="2377440"/>
          </a:xfrm>
          <a:prstGeom prst="ellipse">
            <a:avLst/>
          </a:prstGeom>
          <a:solidFill>
            <a:srgbClr val="D6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155680" y="5303520"/>
            <a:ext cx="1828800" cy="1828800"/>
          </a:xfrm>
          <a:prstGeom prst="ellipse">
            <a:avLst/>
          </a:prstGeom>
          <a:solidFill>
            <a:srgbClr val="FFEC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-457200" y="5852160"/>
            <a:ext cx="1645920" cy="1645920"/>
          </a:xfrm>
          <a:prstGeom prst="ellipse">
            <a:avLst/>
          </a:prstGeom>
          <a:solidFill>
            <a:srgbClr val="D8F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5-Point Star 6"/>
          <p:cNvSpPr/>
          <p:nvPr/>
        </p:nvSpPr>
        <p:spPr>
          <a:xfrm>
            <a:off x="11475720" y="868680"/>
            <a:ext cx="347472" cy="347472"/>
          </a:xfrm>
          <a:prstGeom prst="star5">
            <a:avLst/>
          </a:prstGeom>
          <a:solidFill>
            <a:srgbClr val="FFD0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5-Point Star 7"/>
          <p:cNvSpPr/>
          <p:nvPr/>
        </p:nvSpPr>
        <p:spPr>
          <a:xfrm>
            <a:off x="256032" y="5989320"/>
            <a:ext cx="292608" cy="292608"/>
          </a:xfrm>
          <a:prstGeom prst="star5">
            <a:avLst/>
          </a:prstGeom>
          <a:solidFill>
            <a:srgbClr val="FF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84048" y="201168"/>
            <a:ext cx="11430000" cy="713232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84048" y="201168"/>
            <a:ext cx="146304" cy="713232"/>
          </a:xfrm>
          <a:prstGeom prst="roundRect">
            <a:avLst>
              <a:gd name="adj" fmla="val 40000"/>
            </a:avLst>
          </a:prstGeom>
          <a:solidFill>
            <a:srgbClr val="5B8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201168"/>
            <a:ext cx="804672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5B8DFF"/>
                </a:solidFill>
                <a:latin typeface="Hiragino Sans GB"/>
                <a:ea typeface="Hiragino Sans GB"/>
                <a:cs typeface="Hiragino Sans GB"/>
              </a:rPr>
              <a:t>第一款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420624"/>
            <a:ext cx="10789920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3A2A42"/>
                </a:solidFill>
                <a:latin typeface="Hiragino Sans GB"/>
                <a:ea typeface="Hiragino Sans GB"/>
                <a:cs typeface="Hiragino Sans GB"/>
              </a:rPr>
              <a:t>完成！可以吃的小青花瓷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84048" y="1115568"/>
            <a:ext cx="7635240" cy="4297680"/>
          </a:xfrm>
          <a:prstGeom prst="roundRect">
            <a:avLst>
              <a:gd name="adj" fmla="val 8000"/>
            </a:avLst>
          </a:prstGeom>
          <a:solidFill>
            <a:srgbClr val="5B8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48056" y="1179576"/>
            <a:ext cx="7507224" cy="4169664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qh_don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" y="1207008"/>
            <a:ext cx="7452360" cy="4114800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8229600" y="1115568"/>
            <a:ext cx="3566160" cy="4297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30768" y="1325880"/>
            <a:ext cx="3200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5B8DFF"/>
                </a:solidFill>
                <a:latin typeface="Hiragino Sans GB"/>
                <a:ea typeface="Hiragino Sans GB"/>
                <a:cs typeface="Hiragino Sans GB"/>
              </a:rPr>
              <a:t>成功密技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30768" y="1874519"/>
            <a:ext cx="3200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200"/>
              </a:spcAft>
            </a:pPr>
            <a:r>
              <a:rPr sz="1400" b="0" i="0">
                <a:solidFill>
                  <a:srgbClr val="3A2A42"/>
                </a:solidFill>
                <a:latin typeface="Hiragino Sans GB"/>
                <a:ea typeface="Hiragino Sans GB"/>
                <a:cs typeface="Hiragino Sans GB"/>
              </a:rPr>
              <a:t>•  藍白不要揉太開，紋路才像青花。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200"/>
              </a:spcAft>
            </a:pPr>
            <a:r>
              <a:rPr sz="1400" b="0" i="0">
                <a:solidFill>
                  <a:srgbClr val="3A2A42"/>
                </a:solidFill>
                <a:latin typeface="Hiragino Sans GB"/>
                <a:ea typeface="Hiragino Sans GB"/>
                <a:cs typeface="Hiragino Sans GB"/>
              </a:rPr>
              <a:t>•  外衣要等底部稍凝，球才不會沉到底。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200"/>
              </a:spcAft>
            </a:pPr>
            <a:r>
              <a:rPr sz="1400" b="0" i="0">
                <a:solidFill>
                  <a:srgbClr val="3A2A42"/>
                </a:solidFill>
                <a:latin typeface="Hiragino Sans GB"/>
                <a:ea typeface="Hiragino Sans GB"/>
                <a:cs typeface="Hiragino Sans GB"/>
              </a:rPr>
              <a:t>•  脫模前再冷藏一下，花紋更清楚。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200"/>
              </a:spcAft>
            </a:pPr>
            <a:r>
              <a:rPr sz="1400" b="0" i="0">
                <a:solidFill>
                  <a:srgbClr val="3A2A42"/>
                </a:solidFill>
                <a:latin typeface="Hiragino Sans GB"/>
                <a:ea typeface="Hiragino Sans GB"/>
                <a:cs typeface="Hiragino Sans GB"/>
              </a:rPr>
              <a:t>•  現做現吃最嫩，也可以冰著當點心。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" y="5532120"/>
            <a:ext cx="11338560" cy="7772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7A6478"/>
                </a:solidFill>
                <a:latin typeface="Hiragino Sans GB"/>
                <a:ea typeface="Hiragino Sans GB"/>
                <a:cs typeface="Hiragino Sans GB"/>
              </a:rPr>
              <a:t>當傳統遇上創新，這方寸之間的瓷意糕點，就是我們今天的第一份作品。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528816"/>
            <a:ext cx="877824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A6478"/>
                </a:solidFill>
                <a:latin typeface="Hiragino Sans GB"/>
                <a:ea typeface="Hiragino Sans GB"/>
                <a:cs typeface="Hiragino Sans GB"/>
              </a:rPr>
              <a:t>中式甜點動手做  ·  給國中同學的快樂食譜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378440" y="6510528"/>
            <a:ext cx="1325880" cy="256032"/>
          </a:xfrm>
          <a:prstGeom prst="roundRect">
            <a:avLst>
              <a:gd name="adj" fmla="val 50000"/>
            </a:avLst>
          </a:prstGeom>
          <a:solidFill>
            <a:srgbClr val="FF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378440" y="6510528"/>
            <a:ext cx="13258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9 / 17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731520" y="-822960"/>
            <a:ext cx="2926080" cy="2926080"/>
          </a:xfrm>
          <a:prstGeom prst="ellipse">
            <a:avLst/>
          </a:prstGeom>
          <a:solidFill>
            <a:srgbClr val="FFD6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607040" y="-548640"/>
            <a:ext cx="2377440" cy="2377440"/>
          </a:xfrm>
          <a:prstGeom prst="ellipse">
            <a:avLst/>
          </a:prstGeom>
          <a:solidFill>
            <a:srgbClr val="D6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155680" y="5303520"/>
            <a:ext cx="1828800" cy="1828800"/>
          </a:xfrm>
          <a:prstGeom prst="ellipse">
            <a:avLst/>
          </a:prstGeom>
          <a:solidFill>
            <a:srgbClr val="FFEC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-457200" y="5852160"/>
            <a:ext cx="1645920" cy="1645920"/>
          </a:xfrm>
          <a:prstGeom prst="ellipse">
            <a:avLst/>
          </a:prstGeom>
          <a:solidFill>
            <a:srgbClr val="D8F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5-Point Star 6"/>
          <p:cNvSpPr/>
          <p:nvPr/>
        </p:nvSpPr>
        <p:spPr>
          <a:xfrm>
            <a:off x="11475720" y="868680"/>
            <a:ext cx="347472" cy="347472"/>
          </a:xfrm>
          <a:prstGeom prst="star5">
            <a:avLst/>
          </a:prstGeom>
          <a:solidFill>
            <a:srgbClr val="FFD0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5-Point Star 7"/>
          <p:cNvSpPr/>
          <p:nvPr/>
        </p:nvSpPr>
        <p:spPr>
          <a:xfrm>
            <a:off x="256032" y="5989320"/>
            <a:ext cx="292608" cy="292608"/>
          </a:xfrm>
          <a:prstGeom prst="star5">
            <a:avLst/>
          </a:prstGeom>
          <a:solidFill>
            <a:srgbClr val="FF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84048" y="201168"/>
            <a:ext cx="11430000" cy="713232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84048" y="201168"/>
            <a:ext cx="146304" cy="713232"/>
          </a:xfrm>
          <a:prstGeom prst="roundRect">
            <a:avLst>
              <a:gd name="adj" fmla="val 40000"/>
            </a:avLst>
          </a:prstGeom>
          <a:solidFill>
            <a:srgbClr val="FF9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201168"/>
            <a:ext cx="804672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9F43"/>
                </a:solidFill>
                <a:latin typeface="Hiragino Sans GB"/>
                <a:ea typeface="Hiragino Sans GB"/>
                <a:cs typeface="Hiragino Sans GB"/>
              </a:rPr>
              <a:t>第二款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420624"/>
            <a:ext cx="10789920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3A2A42"/>
                </a:solidFill>
                <a:latin typeface="Hiragino Sans GB"/>
                <a:ea typeface="Hiragino Sans GB"/>
                <a:cs typeface="Hiragino Sans GB"/>
              </a:rPr>
              <a:t>雪梨菊花銀耳凍｜材料超簡單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84048" y="1115568"/>
            <a:ext cx="5623560" cy="5102352"/>
          </a:xfrm>
          <a:prstGeom prst="roundRect">
            <a:avLst>
              <a:gd name="adj" fmla="val 8000"/>
            </a:avLst>
          </a:prstGeom>
          <a:solidFill>
            <a:srgbClr val="FFD0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48056" y="1179576"/>
            <a:ext cx="5495544" cy="4974336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xl_her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" y="1207008"/>
            <a:ext cx="5440680" cy="4919472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6217920" y="1115568"/>
            <a:ext cx="5577840" cy="510235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46520" y="1298448"/>
            <a:ext cx="51206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F9F43"/>
                </a:solidFill>
                <a:latin typeface="Hiragino Sans GB"/>
                <a:ea typeface="Hiragino Sans GB"/>
                <a:cs typeface="Hiragino Sans GB"/>
              </a:rPr>
              <a:t>分成兩層來做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1783080"/>
            <a:ext cx="5120640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3A2A42"/>
                </a:solidFill>
                <a:latin typeface="Hiragino Sans GB"/>
                <a:ea typeface="Hiragino Sans GB"/>
                <a:cs typeface="Hiragino Sans GB"/>
              </a:rPr>
              <a:t>雪梨銀耳凍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2121408"/>
            <a:ext cx="5120640" cy="10515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3A2A42"/>
                </a:solidFill>
                <a:latin typeface="Hiragino Sans GB"/>
                <a:ea typeface="Hiragino Sans GB"/>
                <a:cs typeface="Hiragino Sans GB"/>
              </a:rPr>
              <a:t>雪梨銀耳湯 200 g
白涼粉 20 g
（先把雪梨、銀耳、冰糖煮成湯）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3246120"/>
            <a:ext cx="5120640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3A2A42"/>
                </a:solidFill>
                <a:latin typeface="Hiragino Sans GB"/>
                <a:ea typeface="Hiragino Sans GB"/>
                <a:cs typeface="Hiragino Sans GB"/>
              </a:rPr>
              <a:t>菊花凍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3584448"/>
            <a:ext cx="512064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3A2A42"/>
                </a:solidFill>
                <a:latin typeface="Hiragino Sans GB"/>
                <a:ea typeface="Hiragino Sans GB"/>
                <a:cs typeface="Hiragino Sans GB"/>
              </a:rPr>
              <a:t>菊花茶 100 g
白涼粉 10 g
中間再放一朵泡好的菊花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46520" y="4709160"/>
            <a:ext cx="5120640" cy="1234440"/>
          </a:xfrm>
          <a:prstGeom prst="roundRect">
            <a:avLst>
              <a:gd name="adj" fmla="val 12000"/>
            </a:avLst>
          </a:prstGeom>
          <a:solidFill>
            <a:srgbClr val="FFF3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01968" y="4828032"/>
            <a:ext cx="4800600" cy="10058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3A2A42"/>
                </a:solidFill>
                <a:latin typeface="Hiragino Sans GB"/>
                <a:ea typeface="Hiragino Sans GB"/>
                <a:cs typeface="Hiragino Sans GB"/>
              </a:rPr>
              <a:t>好記口訣：湯／茶 : 白涼粉 ＝ 10 : 1
這樣凍起來 Q 彈又不會太硬。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528816"/>
            <a:ext cx="877824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A6478"/>
                </a:solidFill>
                <a:latin typeface="Hiragino Sans GB"/>
                <a:ea typeface="Hiragino Sans GB"/>
                <a:cs typeface="Hiragino Sans GB"/>
              </a:rPr>
              <a:t>中式甜點動手做  ·  給國中同學的快樂食譜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378440" y="6510528"/>
            <a:ext cx="1325880" cy="256032"/>
          </a:xfrm>
          <a:prstGeom prst="roundRect">
            <a:avLst>
              <a:gd name="adj" fmla="val 50000"/>
            </a:avLst>
          </a:prstGeom>
          <a:solidFill>
            <a:srgbClr val="FF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378440" y="6510528"/>
            <a:ext cx="13258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10 / 17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731520" y="-822960"/>
            <a:ext cx="2926080" cy="2926080"/>
          </a:xfrm>
          <a:prstGeom prst="ellipse">
            <a:avLst/>
          </a:prstGeom>
          <a:solidFill>
            <a:srgbClr val="FFD6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607040" y="-548640"/>
            <a:ext cx="2377440" cy="2377440"/>
          </a:xfrm>
          <a:prstGeom prst="ellipse">
            <a:avLst/>
          </a:prstGeom>
          <a:solidFill>
            <a:srgbClr val="D6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155680" y="5303520"/>
            <a:ext cx="1828800" cy="1828800"/>
          </a:xfrm>
          <a:prstGeom prst="ellipse">
            <a:avLst/>
          </a:prstGeom>
          <a:solidFill>
            <a:srgbClr val="FFEC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-457200" y="5852160"/>
            <a:ext cx="1645920" cy="1645920"/>
          </a:xfrm>
          <a:prstGeom prst="ellipse">
            <a:avLst/>
          </a:prstGeom>
          <a:solidFill>
            <a:srgbClr val="D8F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5-Point Star 6"/>
          <p:cNvSpPr/>
          <p:nvPr/>
        </p:nvSpPr>
        <p:spPr>
          <a:xfrm>
            <a:off x="11475720" y="868680"/>
            <a:ext cx="347472" cy="347472"/>
          </a:xfrm>
          <a:prstGeom prst="star5">
            <a:avLst/>
          </a:prstGeom>
          <a:solidFill>
            <a:srgbClr val="FFD0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5-Point Star 7"/>
          <p:cNvSpPr/>
          <p:nvPr/>
        </p:nvSpPr>
        <p:spPr>
          <a:xfrm>
            <a:off x="256032" y="5989320"/>
            <a:ext cx="292608" cy="292608"/>
          </a:xfrm>
          <a:prstGeom prst="star5">
            <a:avLst/>
          </a:prstGeom>
          <a:solidFill>
            <a:srgbClr val="FF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84048" y="201168"/>
            <a:ext cx="11430000" cy="713232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84048" y="201168"/>
            <a:ext cx="146304" cy="713232"/>
          </a:xfrm>
          <a:prstGeom prst="roundRect">
            <a:avLst>
              <a:gd name="adj" fmla="val 40000"/>
            </a:avLst>
          </a:prstGeom>
          <a:solidFill>
            <a:srgbClr val="FF9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201168"/>
            <a:ext cx="804672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9F43"/>
                </a:solidFill>
                <a:latin typeface="Hiragino Sans GB"/>
                <a:ea typeface="Hiragino Sans GB"/>
                <a:cs typeface="Hiragino Sans GB"/>
              </a:rPr>
              <a:t>第二款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420624"/>
            <a:ext cx="10789920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3A2A42"/>
                </a:solidFill>
                <a:latin typeface="Hiragino Sans GB"/>
                <a:ea typeface="Hiragino Sans GB"/>
                <a:cs typeface="Hiragino Sans GB"/>
              </a:rPr>
              <a:t>雪梨菊花銀耳凍｜泡茶、處理雪梨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84048" y="1078992"/>
            <a:ext cx="5522976" cy="52852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85216" y="1243584"/>
            <a:ext cx="1051560" cy="384048"/>
          </a:xfrm>
          <a:prstGeom prst="roundRect">
            <a:avLst>
              <a:gd name="adj" fmla="val 50000"/>
            </a:avLst>
          </a:prstGeom>
          <a:solidFill>
            <a:srgbClr val="FFD0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5216" y="1243584"/>
            <a:ext cx="1051560" cy="38404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步驟 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55648" y="1225296"/>
            <a:ext cx="3931920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3A2A42"/>
                </a:solidFill>
                <a:latin typeface="Hiragino Sans GB"/>
                <a:ea typeface="Hiragino Sans GB"/>
                <a:cs typeface="Hiragino Sans GB"/>
              </a:rPr>
              <a:t>先泡一壺菊花茶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85216" y="1755648"/>
            <a:ext cx="5120640" cy="2907792"/>
          </a:xfrm>
          <a:prstGeom prst="roundRect">
            <a:avLst>
              <a:gd name="adj" fmla="val 8000"/>
            </a:avLst>
          </a:prstGeom>
          <a:solidFill>
            <a:srgbClr val="FFD0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49224" y="1819656"/>
            <a:ext cx="4992624" cy="2779776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xl_bloo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" y="1847088"/>
            <a:ext cx="4937760" cy="2724912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40080" y="4773168"/>
            <a:ext cx="5029200" cy="138988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3A2A42"/>
                </a:solidFill>
                <a:latin typeface="Hiragino Sans GB"/>
                <a:ea typeface="Hiragino Sans GB"/>
                <a:cs typeface="Hiragino Sans GB"/>
              </a:rPr>
              <a:t>準備菊花，熱水沖泡備用。待會一半拿來做凍，一朵漂亮的花要藏進圓球裡。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91072" y="1078992"/>
            <a:ext cx="5522976" cy="52852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492240" y="1243584"/>
            <a:ext cx="1051560" cy="384048"/>
          </a:xfrm>
          <a:prstGeom prst="roundRect">
            <a:avLst>
              <a:gd name="adj" fmla="val 50000"/>
            </a:avLst>
          </a:prstGeom>
          <a:solidFill>
            <a:srgbClr val="FF9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0" y="1243584"/>
            <a:ext cx="1051560" cy="38404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步驟 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62672" y="1225296"/>
            <a:ext cx="3931920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3A2A42"/>
                </a:solidFill>
                <a:latin typeface="Hiragino Sans GB"/>
                <a:ea typeface="Hiragino Sans GB"/>
                <a:cs typeface="Hiragino Sans GB"/>
              </a:rPr>
              <a:t>雪梨去皮切小塊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92240" y="1755648"/>
            <a:ext cx="5120640" cy="2907792"/>
          </a:xfrm>
          <a:prstGeom prst="roundRect">
            <a:avLst>
              <a:gd name="adj" fmla="val 8000"/>
            </a:avLst>
          </a:prstGeom>
          <a:solidFill>
            <a:srgbClr val="FF9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556248" y="1819656"/>
            <a:ext cx="4992624" cy="2779776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xl_cu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0" y="1847088"/>
            <a:ext cx="4937760" cy="2724912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6547104" y="4773168"/>
            <a:ext cx="5029200" cy="138988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3A2A42"/>
                </a:solidFill>
                <a:latin typeface="Hiragino Sans GB"/>
                <a:ea typeface="Hiragino Sans GB"/>
                <a:cs typeface="Hiragino Sans GB"/>
              </a:rPr>
              <a:t>雪梨削皮、去核，切成均勻小丁。塊不要太大，煮起來更快，凍裡也比較好看。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6528816"/>
            <a:ext cx="877824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A6478"/>
                </a:solidFill>
                <a:latin typeface="Hiragino Sans GB"/>
                <a:ea typeface="Hiragino Sans GB"/>
                <a:cs typeface="Hiragino Sans GB"/>
              </a:rPr>
              <a:t>中式甜點動手做  ·  給國中同學的快樂食譜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378440" y="6510528"/>
            <a:ext cx="1325880" cy="256032"/>
          </a:xfrm>
          <a:prstGeom prst="roundRect">
            <a:avLst>
              <a:gd name="adj" fmla="val 50000"/>
            </a:avLst>
          </a:prstGeom>
          <a:solidFill>
            <a:srgbClr val="FF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378440" y="6510528"/>
            <a:ext cx="13258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11 / 17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731520" y="-822960"/>
            <a:ext cx="2926080" cy="2926080"/>
          </a:xfrm>
          <a:prstGeom prst="ellipse">
            <a:avLst/>
          </a:prstGeom>
          <a:solidFill>
            <a:srgbClr val="FFD6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607040" y="-548640"/>
            <a:ext cx="2377440" cy="2377440"/>
          </a:xfrm>
          <a:prstGeom prst="ellipse">
            <a:avLst/>
          </a:prstGeom>
          <a:solidFill>
            <a:srgbClr val="D6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155680" y="5303520"/>
            <a:ext cx="1828800" cy="1828800"/>
          </a:xfrm>
          <a:prstGeom prst="ellipse">
            <a:avLst/>
          </a:prstGeom>
          <a:solidFill>
            <a:srgbClr val="FFEC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-457200" y="5852160"/>
            <a:ext cx="1645920" cy="1645920"/>
          </a:xfrm>
          <a:prstGeom prst="ellipse">
            <a:avLst/>
          </a:prstGeom>
          <a:solidFill>
            <a:srgbClr val="D8F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5-Point Star 6"/>
          <p:cNvSpPr/>
          <p:nvPr/>
        </p:nvSpPr>
        <p:spPr>
          <a:xfrm>
            <a:off x="11475720" y="868680"/>
            <a:ext cx="347472" cy="347472"/>
          </a:xfrm>
          <a:prstGeom prst="star5">
            <a:avLst/>
          </a:prstGeom>
          <a:solidFill>
            <a:srgbClr val="FFD0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5-Point Star 7"/>
          <p:cNvSpPr/>
          <p:nvPr/>
        </p:nvSpPr>
        <p:spPr>
          <a:xfrm>
            <a:off x="256032" y="5989320"/>
            <a:ext cx="292608" cy="292608"/>
          </a:xfrm>
          <a:prstGeom prst="star5">
            <a:avLst/>
          </a:prstGeom>
          <a:solidFill>
            <a:srgbClr val="FF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84048" y="201168"/>
            <a:ext cx="11430000" cy="713232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84048" y="201168"/>
            <a:ext cx="146304" cy="713232"/>
          </a:xfrm>
          <a:prstGeom prst="roundRect">
            <a:avLst>
              <a:gd name="adj" fmla="val 40000"/>
            </a:avLst>
          </a:prstGeom>
          <a:solidFill>
            <a:srgbClr val="FF9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201168"/>
            <a:ext cx="804672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9F43"/>
                </a:solidFill>
                <a:latin typeface="Hiragino Sans GB"/>
                <a:ea typeface="Hiragino Sans GB"/>
                <a:cs typeface="Hiragino Sans GB"/>
              </a:rPr>
              <a:t>第二款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420624"/>
            <a:ext cx="10789920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3A2A42"/>
                </a:solidFill>
                <a:latin typeface="Hiragino Sans GB"/>
                <a:ea typeface="Hiragino Sans GB"/>
                <a:cs typeface="Hiragino Sans GB"/>
              </a:rPr>
              <a:t>雪梨菊花銀耳凍｜煮一鍋潤潤的湯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84048" y="1078992"/>
            <a:ext cx="5522976" cy="52852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85216" y="1243584"/>
            <a:ext cx="1051560" cy="384048"/>
          </a:xfrm>
          <a:prstGeom prst="roundRect">
            <a:avLst>
              <a:gd name="adj" fmla="val 50000"/>
            </a:avLst>
          </a:prstGeom>
          <a:solidFill>
            <a:srgbClr val="2ED4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5216" y="1243584"/>
            <a:ext cx="1051560" cy="38404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步驟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55648" y="1225296"/>
            <a:ext cx="3931920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3A2A42"/>
                </a:solidFill>
                <a:latin typeface="Hiragino Sans GB"/>
                <a:ea typeface="Hiragino Sans GB"/>
                <a:cs typeface="Hiragino Sans GB"/>
              </a:rPr>
              <a:t>下鍋，加銀耳悶煮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85216" y="1755648"/>
            <a:ext cx="5120640" cy="2907792"/>
          </a:xfrm>
          <a:prstGeom prst="roundRect">
            <a:avLst>
              <a:gd name="adj" fmla="val 8000"/>
            </a:avLst>
          </a:prstGeom>
          <a:solidFill>
            <a:srgbClr val="2ED4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49224" y="1819656"/>
            <a:ext cx="4992624" cy="2779776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xl_fungu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" y="1847088"/>
            <a:ext cx="4937760" cy="2724912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40080" y="4773168"/>
            <a:ext cx="5029200" cy="138988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3A2A42"/>
                </a:solidFill>
                <a:latin typeface="Hiragino Sans GB"/>
                <a:ea typeface="Hiragino Sans GB"/>
                <a:cs typeface="Hiragino Sans GB"/>
              </a:rPr>
              <a:t>雪梨丁放進熱水裡，再加入銀耳。蓋上蓋子悶煮大約半小時，讓銀耳出膠、湯變黏潤。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91072" y="1078992"/>
            <a:ext cx="5522976" cy="52852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492240" y="1243584"/>
            <a:ext cx="1051560" cy="384048"/>
          </a:xfrm>
          <a:prstGeom prst="roundRect">
            <a:avLst>
              <a:gd name="adj" fmla="val 50000"/>
            </a:avLst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0" y="1243584"/>
            <a:ext cx="1051560" cy="38404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步驟 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62672" y="1225296"/>
            <a:ext cx="3931920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3A2A42"/>
                </a:solidFill>
                <a:latin typeface="Hiragino Sans GB"/>
                <a:ea typeface="Hiragino Sans GB"/>
                <a:cs typeface="Hiragino Sans GB"/>
              </a:rPr>
              <a:t>最後加冰糖煮沸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92240" y="1755648"/>
            <a:ext cx="5120640" cy="2907792"/>
          </a:xfrm>
          <a:prstGeom prst="roundRect">
            <a:avLst>
              <a:gd name="adj" fmla="val 8000"/>
            </a:avLst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556248" y="1819656"/>
            <a:ext cx="4992624" cy="2779776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xl_sugar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0" y="1847088"/>
            <a:ext cx="4937760" cy="2724912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6547104" y="4773168"/>
            <a:ext cx="5029200" cy="138988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3A2A42"/>
                </a:solidFill>
                <a:latin typeface="Hiragino Sans GB"/>
                <a:ea typeface="Hiragino Sans GB"/>
                <a:cs typeface="Hiragino Sans GB"/>
              </a:rPr>
              <a:t>銀耳軟了以後，加入冰糖攪到溶化並煮沸。這鍋湯又香又甜，先聞一下超幸福。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6528816"/>
            <a:ext cx="877824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A6478"/>
                </a:solidFill>
                <a:latin typeface="Hiragino Sans GB"/>
                <a:ea typeface="Hiragino Sans GB"/>
                <a:cs typeface="Hiragino Sans GB"/>
              </a:rPr>
              <a:t>中式甜點動手做  ·  給國中同學的快樂食譜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378440" y="6510528"/>
            <a:ext cx="1325880" cy="256032"/>
          </a:xfrm>
          <a:prstGeom prst="roundRect">
            <a:avLst>
              <a:gd name="adj" fmla="val 50000"/>
            </a:avLst>
          </a:prstGeom>
          <a:solidFill>
            <a:srgbClr val="FF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378440" y="6510528"/>
            <a:ext cx="13258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12 / 17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731520" y="-822960"/>
            <a:ext cx="2926080" cy="2926080"/>
          </a:xfrm>
          <a:prstGeom prst="ellipse">
            <a:avLst/>
          </a:prstGeom>
          <a:solidFill>
            <a:srgbClr val="FFD6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607040" y="-548640"/>
            <a:ext cx="2377440" cy="2377440"/>
          </a:xfrm>
          <a:prstGeom prst="ellipse">
            <a:avLst/>
          </a:prstGeom>
          <a:solidFill>
            <a:srgbClr val="D6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155680" y="5303520"/>
            <a:ext cx="1828800" cy="1828800"/>
          </a:xfrm>
          <a:prstGeom prst="ellipse">
            <a:avLst/>
          </a:prstGeom>
          <a:solidFill>
            <a:srgbClr val="FFEC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-457200" y="5852160"/>
            <a:ext cx="1645920" cy="1645920"/>
          </a:xfrm>
          <a:prstGeom prst="ellipse">
            <a:avLst/>
          </a:prstGeom>
          <a:solidFill>
            <a:srgbClr val="D8F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5-Point Star 6"/>
          <p:cNvSpPr/>
          <p:nvPr/>
        </p:nvSpPr>
        <p:spPr>
          <a:xfrm>
            <a:off x="11475720" y="868680"/>
            <a:ext cx="347472" cy="347472"/>
          </a:xfrm>
          <a:prstGeom prst="star5">
            <a:avLst/>
          </a:prstGeom>
          <a:solidFill>
            <a:srgbClr val="FFD0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5-Point Star 7"/>
          <p:cNvSpPr/>
          <p:nvPr/>
        </p:nvSpPr>
        <p:spPr>
          <a:xfrm>
            <a:off x="256032" y="5989320"/>
            <a:ext cx="292608" cy="292608"/>
          </a:xfrm>
          <a:prstGeom prst="star5">
            <a:avLst/>
          </a:prstGeom>
          <a:solidFill>
            <a:srgbClr val="FF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84048" y="201168"/>
            <a:ext cx="11430000" cy="713232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84048" y="201168"/>
            <a:ext cx="146304" cy="713232"/>
          </a:xfrm>
          <a:prstGeom prst="roundRect">
            <a:avLst>
              <a:gd name="adj" fmla="val 40000"/>
            </a:avLst>
          </a:prstGeom>
          <a:solidFill>
            <a:srgbClr val="FF9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201168"/>
            <a:ext cx="804672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9F43"/>
                </a:solidFill>
                <a:latin typeface="Hiragino Sans GB"/>
                <a:ea typeface="Hiragino Sans GB"/>
                <a:cs typeface="Hiragino Sans GB"/>
              </a:rPr>
              <a:t>第二款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420624"/>
            <a:ext cx="10789920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3A2A42"/>
                </a:solidFill>
                <a:latin typeface="Hiragino Sans GB"/>
                <a:ea typeface="Hiragino Sans GB"/>
                <a:cs typeface="Hiragino Sans GB"/>
              </a:rPr>
              <a:t>雪梨菊花銀耳凍｜做成凍、倒進模具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84048" y="1078992"/>
            <a:ext cx="5522976" cy="52852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85216" y="1243584"/>
            <a:ext cx="1051560" cy="384048"/>
          </a:xfrm>
          <a:prstGeom prst="roundRect">
            <a:avLst>
              <a:gd name="adj" fmla="val 50000"/>
            </a:avLst>
          </a:prstGeom>
          <a:solidFill>
            <a:srgbClr val="4DC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5216" y="1243584"/>
            <a:ext cx="1051560" cy="38404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步驟 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55648" y="1225296"/>
            <a:ext cx="3931920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3A2A42"/>
                </a:solidFill>
                <a:latin typeface="Hiragino Sans GB"/>
                <a:ea typeface="Hiragino Sans GB"/>
                <a:cs typeface="Hiragino Sans GB"/>
              </a:rPr>
              <a:t>取湯加白涼粉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85216" y="1755648"/>
            <a:ext cx="5120640" cy="2907792"/>
          </a:xfrm>
          <a:prstGeom prst="roundRect">
            <a:avLst>
              <a:gd name="adj" fmla="val 8000"/>
            </a:avLst>
          </a:prstGeom>
          <a:solidFill>
            <a:srgbClr val="4DC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49224" y="1819656"/>
            <a:ext cx="4992624" cy="2779776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xl_powd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" y="1847088"/>
            <a:ext cx="4937760" cy="2724912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40080" y="4773168"/>
            <a:ext cx="5029200" cy="138988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3A2A42"/>
                </a:solidFill>
                <a:latin typeface="Hiragino Sans GB"/>
                <a:ea typeface="Hiragino Sans GB"/>
                <a:cs typeface="Hiragino Sans GB"/>
              </a:rPr>
              <a:t>舀出雪梨銀耳湯 200 克，加入白涼粉 20 克，攪勻煮沸。粉要完全化開，才不會一顆顆。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91072" y="1078992"/>
            <a:ext cx="5522976" cy="52852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492240" y="1243584"/>
            <a:ext cx="1051560" cy="384048"/>
          </a:xfrm>
          <a:prstGeom prst="roundRect">
            <a:avLst>
              <a:gd name="adj" fmla="val 50000"/>
            </a:avLst>
          </a:prstGeom>
          <a:solidFill>
            <a:srgbClr val="5B8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0" y="1243584"/>
            <a:ext cx="1051560" cy="38404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步驟 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62672" y="1225296"/>
            <a:ext cx="3931920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3A2A42"/>
                </a:solidFill>
                <a:latin typeface="Hiragino Sans GB"/>
                <a:ea typeface="Hiragino Sans GB"/>
                <a:cs typeface="Hiragino Sans GB"/>
              </a:rPr>
              <a:t>倒入模具冷藏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92240" y="1755648"/>
            <a:ext cx="5120640" cy="2907792"/>
          </a:xfrm>
          <a:prstGeom prst="roundRect">
            <a:avLst>
              <a:gd name="adj" fmla="val 8000"/>
            </a:avLst>
          </a:prstGeom>
          <a:solidFill>
            <a:srgbClr val="5B8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556248" y="1819656"/>
            <a:ext cx="4992624" cy="2779776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xl_mold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0" y="1847088"/>
            <a:ext cx="4937760" cy="2724912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6547104" y="4773168"/>
            <a:ext cx="5029200" cy="138988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3A2A42"/>
                </a:solidFill>
                <a:latin typeface="Hiragino Sans GB"/>
                <a:ea typeface="Hiragino Sans GB"/>
                <a:cs typeface="Hiragino Sans GB"/>
              </a:rPr>
              <a:t>煮沸後趁熱舀進花形模具，連同雪梨塊和銀耳一起放。送進冰箱冷藏定型。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6528816"/>
            <a:ext cx="877824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A6478"/>
                </a:solidFill>
                <a:latin typeface="Hiragino Sans GB"/>
                <a:ea typeface="Hiragino Sans GB"/>
                <a:cs typeface="Hiragino Sans GB"/>
              </a:rPr>
              <a:t>中式甜點動手做  ·  給國中同學的快樂食譜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378440" y="6510528"/>
            <a:ext cx="1325880" cy="256032"/>
          </a:xfrm>
          <a:prstGeom prst="roundRect">
            <a:avLst>
              <a:gd name="adj" fmla="val 50000"/>
            </a:avLst>
          </a:prstGeom>
          <a:solidFill>
            <a:srgbClr val="FF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378440" y="6510528"/>
            <a:ext cx="13258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13 / 17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731520" y="-822960"/>
            <a:ext cx="2926080" cy="2926080"/>
          </a:xfrm>
          <a:prstGeom prst="ellipse">
            <a:avLst/>
          </a:prstGeom>
          <a:solidFill>
            <a:srgbClr val="FFD6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607040" y="-548640"/>
            <a:ext cx="2377440" cy="2377440"/>
          </a:xfrm>
          <a:prstGeom prst="ellipse">
            <a:avLst/>
          </a:prstGeom>
          <a:solidFill>
            <a:srgbClr val="D6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155680" y="5303520"/>
            <a:ext cx="1828800" cy="1828800"/>
          </a:xfrm>
          <a:prstGeom prst="ellipse">
            <a:avLst/>
          </a:prstGeom>
          <a:solidFill>
            <a:srgbClr val="FFEC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-457200" y="5852160"/>
            <a:ext cx="1645920" cy="1645920"/>
          </a:xfrm>
          <a:prstGeom prst="ellipse">
            <a:avLst/>
          </a:prstGeom>
          <a:solidFill>
            <a:srgbClr val="D8F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5-Point Star 6"/>
          <p:cNvSpPr/>
          <p:nvPr/>
        </p:nvSpPr>
        <p:spPr>
          <a:xfrm>
            <a:off x="11475720" y="868680"/>
            <a:ext cx="347472" cy="347472"/>
          </a:xfrm>
          <a:prstGeom prst="star5">
            <a:avLst/>
          </a:prstGeom>
          <a:solidFill>
            <a:srgbClr val="FFD0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5-Point Star 7"/>
          <p:cNvSpPr/>
          <p:nvPr/>
        </p:nvSpPr>
        <p:spPr>
          <a:xfrm>
            <a:off x="256032" y="5989320"/>
            <a:ext cx="292608" cy="292608"/>
          </a:xfrm>
          <a:prstGeom prst="star5">
            <a:avLst/>
          </a:prstGeom>
          <a:solidFill>
            <a:srgbClr val="FF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84048" y="201168"/>
            <a:ext cx="11430000" cy="713232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84048" y="201168"/>
            <a:ext cx="146304" cy="713232"/>
          </a:xfrm>
          <a:prstGeom prst="roundRect">
            <a:avLst>
              <a:gd name="adj" fmla="val 40000"/>
            </a:avLst>
          </a:prstGeom>
          <a:solidFill>
            <a:srgbClr val="FF9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201168"/>
            <a:ext cx="804672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9F43"/>
                </a:solidFill>
                <a:latin typeface="Hiragino Sans GB"/>
                <a:ea typeface="Hiragino Sans GB"/>
                <a:cs typeface="Hiragino Sans GB"/>
              </a:rPr>
              <a:t>第二款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420624"/>
            <a:ext cx="10789920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3A2A42"/>
                </a:solidFill>
                <a:latin typeface="Hiragino Sans GB"/>
                <a:ea typeface="Hiragino Sans GB"/>
                <a:cs typeface="Hiragino Sans GB"/>
              </a:rPr>
              <a:t>雪梨菊花銀耳凍｜做會開花的水晶球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84048" y="1078992"/>
            <a:ext cx="5522976" cy="52852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85216" y="1243584"/>
            <a:ext cx="1051560" cy="384048"/>
          </a:xfrm>
          <a:prstGeom prst="roundRect">
            <a:avLst>
              <a:gd name="adj" fmla="val 50000"/>
            </a:avLst>
          </a:prstGeom>
          <a:solidFill>
            <a:srgbClr val="B8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5216" y="1243584"/>
            <a:ext cx="1051560" cy="38404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步驟 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55648" y="1225296"/>
            <a:ext cx="3931920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3A2A42"/>
                </a:solidFill>
                <a:latin typeface="Hiragino Sans GB"/>
                <a:ea typeface="Hiragino Sans GB"/>
                <a:cs typeface="Hiragino Sans GB"/>
              </a:rPr>
              <a:t>菊花茶加白涼粉煮沸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85216" y="1755648"/>
            <a:ext cx="5120640" cy="2907792"/>
          </a:xfrm>
          <a:prstGeom prst="roundRect">
            <a:avLst>
              <a:gd name="adj" fmla="val 8000"/>
            </a:avLst>
          </a:prstGeom>
          <a:solidFill>
            <a:srgbClr val="B8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49224" y="1819656"/>
            <a:ext cx="4992624" cy="2779776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xl_jupowd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" y="1847088"/>
            <a:ext cx="4937760" cy="2724912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40080" y="4773168"/>
            <a:ext cx="5029200" cy="138988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3A2A42"/>
                </a:solidFill>
                <a:latin typeface="Hiragino Sans GB"/>
                <a:ea typeface="Hiragino Sans GB"/>
                <a:cs typeface="Hiragino Sans GB"/>
              </a:rPr>
              <a:t>另起一鍋，倒入泡好的菊花茶 100 克，加白涼粉 10 克，攪勻煮沸。顏色會淡淡金黃。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91072" y="1078992"/>
            <a:ext cx="5522976" cy="52852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492240" y="1243584"/>
            <a:ext cx="1051560" cy="384048"/>
          </a:xfrm>
          <a:prstGeom prst="roundRect">
            <a:avLst>
              <a:gd name="adj" fmla="val 50000"/>
            </a:avLst>
          </a:prstGeom>
          <a:solidFill>
            <a:srgbClr val="FF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0" y="1243584"/>
            <a:ext cx="1051560" cy="38404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步驟 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62672" y="1225296"/>
            <a:ext cx="3931920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3A2A42"/>
                </a:solidFill>
                <a:latin typeface="Hiragino Sans GB"/>
                <a:ea typeface="Hiragino Sans GB"/>
                <a:cs typeface="Hiragino Sans GB"/>
              </a:rPr>
              <a:t>倒模，中間放一朵花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92240" y="1755648"/>
            <a:ext cx="5120640" cy="2907792"/>
          </a:xfrm>
          <a:prstGeom prst="roundRect">
            <a:avLst>
              <a:gd name="adj" fmla="val 8000"/>
            </a:avLst>
          </a:prstGeom>
          <a:solidFill>
            <a:srgbClr val="FF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556248" y="1819656"/>
            <a:ext cx="4992624" cy="2779776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xl_flowerin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0" y="1847088"/>
            <a:ext cx="4937760" cy="2724912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6547104" y="4773168"/>
            <a:ext cx="5029200" cy="138988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3A2A42"/>
                </a:solidFill>
                <a:latin typeface="Hiragino Sans GB"/>
                <a:ea typeface="Hiragino Sans GB"/>
                <a:cs typeface="Hiragino Sans GB"/>
              </a:rPr>
              <a:t>倒進圓球模具，用夾子放進一朵泡好的菊花，再補滿茶凍。冷藏定型就完成了！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6528816"/>
            <a:ext cx="877824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A6478"/>
                </a:solidFill>
                <a:latin typeface="Hiragino Sans GB"/>
                <a:ea typeface="Hiragino Sans GB"/>
                <a:cs typeface="Hiragino Sans GB"/>
              </a:rPr>
              <a:t>中式甜點動手做  ·  給國中同學的快樂食譜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378440" y="6510528"/>
            <a:ext cx="1325880" cy="256032"/>
          </a:xfrm>
          <a:prstGeom prst="roundRect">
            <a:avLst>
              <a:gd name="adj" fmla="val 50000"/>
            </a:avLst>
          </a:prstGeom>
          <a:solidFill>
            <a:srgbClr val="FF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378440" y="6510528"/>
            <a:ext cx="13258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14 / 17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731520" y="-822960"/>
            <a:ext cx="2926080" cy="2926080"/>
          </a:xfrm>
          <a:prstGeom prst="ellipse">
            <a:avLst/>
          </a:prstGeom>
          <a:solidFill>
            <a:srgbClr val="FFD6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607040" y="-548640"/>
            <a:ext cx="2377440" cy="2377440"/>
          </a:xfrm>
          <a:prstGeom prst="ellipse">
            <a:avLst/>
          </a:prstGeom>
          <a:solidFill>
            <a:srgbClr val="D6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155680" y="5303520"/>
            <a:ext cx="1828800" cy="1828800"/>
          </a:xfrm>
          <a:prstGeom prst="ellipse">
            <a:avLst/>
          </a:prstGeom>
          <a:solidFill>
            <a:srgbClr val="FFEC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-457200" y="5852160"/>
            <a:ext cx="1645920" cy="1645920"/>
          </a:xfrm>
          <a:prstGeom prst="ellipse">
            <a:avLst/>
          </a:prstGeom>
          <a:solidFill>
            <a:srgbClr val="D8F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5-Point Star 6"/>
          <p:cNvSpPr/>
          <p:nvPr/>
        </p:nvSpPr>
        <p:spPr>
          <a:xfrm>
            <a:off x="11475720" y="868680"/>
            <a:ext cx="347472" cy="347472"/>
          </a:xfrm>
          <a:prstGeom prst="star5">
            <a:avLst/>
          </a:prstGeom>
          <a:solidFill>
            <a:srgbClr val="FFD0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5-Point Star 7"/>
          <p:cNvSpPr/>
          <p:nvPr/>
        </p:nvSpPr>
        <p:spPr>
          <a:xfrm>
            <a:off x="256032" y="5989320"/>
            <a:ext cx="292608" cy="292608"/>
          </a:xfrm>
          <a:prstGeom prst="star5">
            <a:avLst/>
          </a:prstGeom>
          <a:solidFill>
            <a:srgbClr val="FF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84048" y="201168"/>
            <a:ext cx="11430000" cy="713232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84048" y="201168"/>
            <a:ext cx="146304" cy="713232"/>
          </a:xfrm>
          <a:prstGeom prst="roundRect">
            <a:avLst>
              <a:gd name="adj" fmla="val 40000"/>
            </a:avLst>
          </a:prstGeom>
          <a:solidFill>
            <a:srgbClr val="FF9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201168"/>
            <a:ext cx="804672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9F43"/>
                </a:solidFill>
                <a:latin typeface="Hiragino Sans GB"/>
                <a:ea typeface="Hiragino Sans GB"/>
                <a:cs typeface="Hiragino Sans GB"/>
              </a:rPr>
              <a:t>第二款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420624"/>
            <a:ext cx="10789920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3A2A42"/>
                </a:solidFill>
                <a:latin typeface="Hiragino Sans GB"/>
                <a:ea typeface="Hiragino Sans GB"/>
                <a:cs typeface="Hiragino Sans GB"/>
              </a:rPr>
              <a:t>疊在一起，像一朵會融化的秋日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84048" y="1115568"/>
            <a:ext cx="5522976" cy="3108960"/>
          </a:xfrm>
          <a:prstGeom prst="roundRect">
            <a:avLst>
              <a:gd name="adj" fmla="val 8000"/>
            </a:avLst>
          </a:prstGeom>
          <a:solidFill>
            <a:srgbClr val="2ED4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48056" y="1179576"/>
            <a:ext cx="5394960" cy="2980944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xl_bas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" y="1207008"/>
            <a:ext cx="5340096" cy="2926080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6108192" y="1115568"/>
            <a:ext cx="5687568" cy="3108960"/>
          </a:xfrm>
          <a:prstGeom prst="roundRect">
            <a:avLst>
              <a:gd name="adj" fmla="val 8000"/>
            </a:avLst>
          </a:prstGeom>
          <a:solidFill>
            <a:srgbClr val="FFD0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172200" y="1179576"/>
            <a:ext cx="5559552" cy="2980944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xl_stack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9632" y="1207008"/>
            <a:ext cx="5504688" cy="2926080"/>
          </a:xfrm>
          <a:prstGeom prst="rect">
            <a:avLst/>
          </a:prstGeom>
        </p:spPr>
      </p:pic>
      <p:sp>
        <p:nvSpPr>
          <p:cNvPr id="19" name="Rounded Rectangle 18"/>
          <p:cNvSpPr/>
          <p:nvPr/>
        </p:nvSpPr>
        <p:spPr>
          <a:xfrm>
            <a:off x="384048" y="4389120"/>
            <a:ext cx="11411712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4526280"/>
            <a:ext cx="10972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9F43"/>
                </a:solidFill>
                <a:latin typeface="Hiragino Sans GB"/>
                <a:ea typeface="Hiragino Sans GB"/>
                <a:cs typeface="Hiragino Sans GB"/>
              </a:rPr>
              <a:t>怎麼擺盤？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4919472"/>
            <a:ext cx="10972800" cy="10515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3A2A42"/>
                </a:solidFill>
                <a:latin typeface="Hiragino Sans GB"/>
                <a:ea typeface="Hiragino Sans GB"/>
                <a:cs typeface="Hiragino Sans GB"/>
              </a:rPr>
              <a:t>脫模後，先放上雪梨銀耳凍當底座，再把菊花水晶球輕輕放上去。想更漂亮，可以撒一點菊花碎、或連湯一起盛在小碗裡。銀耳的膠質鎖住雪梨的清甜，再搭配菊花凍的清雅——這不僅是味覺的享受。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528816"/>
            <a:ext cx="877824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A6478"/>
                </a:solidFill>
                <a:latin typeface="Hiragino Sans GB"/>
                <a:ea typeface="Hiragino Sans GB"/>
                <a:cs typeface="Hiragino Sans GB"/>
              </a:rPr>
              <a:t>中式甜點動手做  ·  給國中同學的快樂食譜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378440" y="6510528"/>
            <a:ext cx="1325880" cy="256032"/>
          </a:xfrm>
          <a:prstGeom prst="roundRect">
            <a:avLst>
              <a:gd name="adj" fmla="val 50000"/>
            </a:avLst>
          </a:prstGeom>
          <a:solidFill>
            <a:srgbClr val="FF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378440" y="6510528"/>
            <a:ext cx="13258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15 / 17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731520" y="-822960"/>
            <a:ext cx="2926080" cy="2926080"/>
          </a:xfrm>
          <a:prstGeom prst="ellipse">
            <a:avLst/>
          </a:prstGeom>
          <a:solidFill>
            <a:srgbClr val="FFD6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607040" y="-548640"/>
            <a:ext cx="2377440" cy="2377440"/>
          </a:xfrm>
          <a:prstGeom prst="ellipse">
            <a:avLst/>
          </a:prstGeom>
          <a:solidFill>
            <a:srgbClr val="D6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155680" y="5303520"/>
            <a:ext cx="1828800" cy="1828800"/>
          </a:xfrm>
          <a:prstGeom prst="ellipse">
            <a:avLst/>
          </a:prstGeom>
          <a:solidFill>
            <a:srgbClr val="FFEC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-457200" y="5852160"/>
            <a:ext cx="1645920" cy="1645920"/>
          </a:xfrm>
          <a:prstGeom prst="ellipse">
            <a:avLst/>
          </a:prstGeom>
          <a:solidFill>
            <a:srgbClr val="D8F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5-Point Star 6"/>
          <p:cNvSpPr/>
          <p:nvPr/>
        </p:nvSpPr>
        <p:spPr>
          <a:xfrm>
            <a:off x="11475720" y="868680"/>
            <a:ext cx="347472" cy="347472"/>
          </a:xfrm>
          <a:prstGeom prst="star5">
            <a:avLst/>
          </a:prstGeom>
          <a:solidFill>
            <a:srgbClr val="FFD0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5-Point Star 7"/>
          <p:cNvSpPr/>
          <p:nvPr/>
        </p:nvSpPr>
        <p:spPr>
          <a:xfrm>
            <a:off x="256032" y="5989320"/>
            <a:ext cx="292608" cy="292608"/>
          </a:xfrm>
          <a:prstGeom prst="star5">
            <a:avLst/>
          </a:prstGeom>
          <a:solidFill>
            <a:srgbClr val="FF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84048" y="201168"/>
            <a:ext cx="11430000" cy="713232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84048" y="201168"/>
            <a:ext cx="146304" cy="713232"/>
          </a:xfrm>
          <a:prstGeom prst="roundRect">
            <a:avLst>
              <a:gd name="adj" fmla="val 40000"/>
            </a:avLst>
          </a:prstGeom>
          <a:solidFill>
            <a:srgbClr val="FF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201168"/>
            <a:ext cx="804672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5C8A"/>
                </a:solidFill>
                <a:latin typeface="Hiragino Sans GB"/>
                <a:ea typeface="Hiragino Sans GB"/>
                <a:cs typeface="Hiragino Sans GB"/>
              </a:rPr>
              <a:t>快速複習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420624"/>
            <a:ext cx="10789920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3A2A42"/>
                </a:solidFill>
                <a:latin typeface="Hiragino Sans GB"/>
                <a:ea typeface="Hiragino Sans GB"/>
                <a:cs typeface="Hiragino Sans GB"/>
              </a:rPr>
              <a:t>兩款對照，上課超好記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84048" y="1097280"/>
            <a:ext cx="5522976" cy="5074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84048" y="1097280"/>
            <a:ext cx="5522976" cy="566928"/>
          </a:xfrm>
          <a:prstGeom prst="roundRect">
            <a:avLst>
              <a:gd name="adj" fmla="val 18000"/>
            </a:avLst>
          </a:prstGeom>
          <a:solidFill>
            <a:srgbClr val="5B8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4048" y="1097280"/>
            <a:ext cx="5522976" cy="56692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青花瓷山藥糕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1874519"/>
            <a:ext cx="49377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0" i="0">
                <a:solidFill>
                  <a:srgbClr val="3A2A42"/>
                </a:solidFill>
                <a:latin typeface="Hiragino Sans GB"/>
                <a:ea typeface="Hiragino Sans GB"/>
                <a:cs typeface="Hiragino Sans GB"/>
              </a:rPr>
              <a:t>1  鐵棍山藥去皮蒸熟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0" i="0">
                <a:solidFill>
                  <a:srgbClr val="3A2A42"/>
                </a:solidFill>
                <a:latin typeface="Hiragino Sans GB"/>
                <a:ea typeface="Hiragino Sans GB"/>
                <a:cs typeface="Hiragino Sans GB"/>
              </a:rPr>
              <a:t>2  壓泥，加粉揉團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0" i="0">
                <a:solidFill>
                  <a:srgbClr val="3A2A42"/>
                </a:solidFill>
                <a:latin typeface="Hiragino Sans GB"/>
                <a:ea typeface="Hiragino Sans GB"/>
                <a:cs typeface="Hiragino Sans GB"/>
              </a:rPr>
              <a:t>3  一份染成蝶豆花藍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0" i="0">
                <a:solidFill>
                  <a:srgbClr val="3A2A42"/>
                </a:solidFill>
                <a:latin typeface="Hiragino Sans GB"/>
                <a:ea typeface="Hiragino Sans GB"/>
                <a:cs typeface="Hiragino Sans GB"/>
              </a:rPr>
              <a:t>4  雙色雲紋搓球（可包餡）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0" i="0">
                <a:solidFill>
                  <a:srgbClr val="3A2A42"/>
                </a:solidFill>
                <a:latin typeface="Hiragino Sans GB"/>
                <a:ea typeface="Hiragino Sans GB"/>
                <a:cs typeface="Hiragino Sans GB"/>
              </a:rPr>
              <a:t>5  椰子凍倒模當外衣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0" i="0">
                <a:solidFill>
                  <a:srgbClr val="3A2A42"/>
                </a:solidFill>
                <a:latin typeface="Hiragino Sans GB"/>
                <a:ea typeface="Hiragino Sans GB"/>
                <a:cs typeface="Hiragino Sans GB"/>
              </a:rPr>
              <a:t>6  冷藏脫模，完成青花瓷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91072" y="1097280"/>
            <a:ext cx="5522976" cy="5074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291072" y="1097280"/>
            <a:ext cx="5522976" cy="566928"/>
          </a:xfrm>
          <a:prstGeom prst="roundRect">
            <a:avLst>
              <a:gd name="adj" fmla="val 18000"/>
            </a:avLst>
          </a:prstGeom>
          <a:solidFill>
            <a:srgbClr val="FF9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91072" y="1097280"/>
            <a:ext cx="5522976" cy="56692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雪梨菊花銀耳凍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1968" y="1874519"/>
            <a:ext cx="49377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0" i="0">
                <a:solidFill>
                  <a:srgbClr val="3A2A42"/>
                </a:solidFill>
                <a:latin typeface="Hiragino Sans GB"/>
                <a:ea typeface="Hiragino Sans GB"/>
                <a:cs typeface="Hiragino Sans GB"/>
              </a:rPr>
              <a:t>1  先泡菊花茶備用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0" i="0">
                <a:solidFill>
                  <a:srgbClr val="3A2A42"/>
                </a:solidFill>
                <a:latin typeface="Hiragino Sans GB"/>
                <a:ea typeface="Hiragino Sans GB"/>
                <a:cs typeface="Hiragino Sans GB"/>
              </a:rPr>
              <a:t>2  雪梨切丁，加銀耳悶煮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0" i="0">
                <a:solidFill>
                  <a:srgbClr val="3A2A42"/>
                </a:solidFill>
                <a:latin typeface="Hiragino Sans GB"/>
                <a:ea typeface="Hiragino Sans GB"/>
                <a:cs typeface="Hiragino Sans GB"/>
              </a:rPr>
              <a:t>3  冰糖煮沸成湯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0" i="0">
                <a:solidFill>
                  <a:srgbClr val="3A2A42"/>
                </a:solidFill>
                <a:latin typeface="Hiragino Sans GB"/>
                <a:ea typeface="Hiragino Sans GB"/>
                <a:cs typeface="Hiragino Sans GB"/>
              </a:rPr>
              <a:t>4  湯＋白涼粉 → 雪梨凍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0" i="0">
                <a:solidFill>
                  <a:srgbClr val="3A2A42"/>
                </a:solidFill>
                <a:latin typeface="Hiragino Sans GB"/>
                <a:ea typeface="Hiragino Sans GB"/>
                <a:cs typeface="Hiragino Sans GB"/>
              </a:rPr>
              <a:t>5  茶＋白涼粉＋菊花 → 花球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0" i="0">
                <a:solidFill>
                  <a:srgbClr val="3A2A42"/>
                </a:solidFill>
                <a:latin typeface="Hiragino Sans GB"/>
                <a:ea typeface="Hiragino Sans GB"/>
                <a:cs typeface="Hiragino Sans GB"/>
              </a:rPr>
              <a:t>6  冷藏後疊在一起擺盤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528816"/>
            <a:ext cx="877824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A6478"/>
                </a:solidFill>
                <a:latin typeface="Hiragino Sans GB"/>
                <a:ea typeface="Hiragino Sans GB"/>
                <a:cs typeface="Hiragino Sans GB"/>
              </a:rPr>
              <a:t>中式甜點動手做  ·  給國中同學的快樂食譜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378440" y="6510528"/>
            <a:ext cx="1325880" cy="256032"/>
          </a:xfrm>
          <a:prstGeom prst="roundRect">
            <a:avLst>
              <a:gd name="adj" fmla="val 50000"/>
            </a:avLst>
          </a:prstGeom>
          <a:solidFill>
            <a:srgbClr val="FF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378440" y="6510528"/>
            <a:ext cx="13258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16 / 17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731520" y="-822960"/>
            <a:ext cx="2926080" cy="2926080"/>
          </a:xfrm>
          <a:prstGeom prst="ellipse">
            <a:avLst/>
          </a:prstGeom>
          <a:solidFill>
            <a:srgbClr val="FFD6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607040" y="-548640"/>
            <a:ext cx="2377440" cy="2377440"/>
          </a:xfrm>
          <a:prstGeom prst="ellipse">
            <a:avLst/>
          </a:prstGeom>
          <a:solidFill>
            <a:srgbClr val="D6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155680" y="5303520"/>
            <a:ext cx="1828800" cy="1828800"/>
          </a:xfrm>
          <a:prstGeom prst="ellipse">
            <a:avLst/>
          </a:prstGeom>
          <a:solidFill>
            <a:srgbClr val="FFEC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-457200" y="5852160"/>
            <a:ext cx="1645920" cy="1645920"/>
          </a:xfrm>
          <a:prstGeom prst="ellipse">
            <a:avLst/>
          </a:prstGeom>
          <a:solidFill>
            <a:srgbClr val="D8F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5-Point Star 6"/>
          <p:cNvSpPr/>
          <p:nvPr/>
        </p:nvSpPr>
        <p:spPr>
          <a:xfrm>
            <a:off x="11475720" y="868680"/>
            <a:ext cx="347472" cy="347472"/>
          </a:xfrm>
          <a:prstGeom prst="star5">
            <a:avLst/>
          </a:prstGeom>
          <a:solidFill>
            <a:srgbClr val="FFD0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5-Point Star 7"/>
          <p:cNvSpPr/>
          <p:nvPr/>
        </p:nvSpPr>
        <p:spPr>
          <a:xfrm>
            <a:off x="256032" y="5989320"/>
            <a:ext cx="292608" cy="292608"/>
          </a:xfrm>
          <a:prstGeom prst="star5">
            <a:avLst/>
          </a:prstGeom>
          <a:solidFill>
            <a:srgbClr val="FF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3474720" y="182880"/>
            <a:ext cx="5303520" cy="5303520"/>
          </a:xfrm>
          <a:prstGeom prst="ellipse">
            <a:avLst/>
          </a:prstGeom>
          <a:solidFill>
            <a:srgbClr val="FFE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234440"/>
            <a:ext cx="10698480" cy="11887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3A2A42"/>
                </a:solidFill>
                <a:latin typeface="Hiragino Sans GB"/>
                <a:ea typeface="Hiragino Sans GB"/>
                <a:cs typeface="Hiragino Sans GB"/>
              </a:rPr>
              <a:t>今天你學會了兩件事：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2468880"/>
            <a:ext cx="9601200" cy="1463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3A2A42"/>
                </a:solidFill>
                <a:latin typeface="Hiragino Sans GB"/>
                <a:ea typeface="Hiragino Sans GB"/>
                <a:cs typeface="Hiragino Sans GB"/>
              </a:rPr>
              <a:t>把山藥變成可以吃的青花瓷，
把一壺秋日甜湯變成會開花的果凍。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80360" y="4160520"/>
            <a:ext cx="2880360" cy="502920"/>
          </a:xfrm>
          <a:prstGeom prst="roundRect">
            <a:avLst>
              <a:gd name="adj" fmla="val 50000"/>
            </a:avLst>
          </a:prstGeom>
          <a:solidFill>
            <a:srgbClr val="FF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880360" y="4160520"/>
            <a:ext cx="2880360" cy="5029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動手就會成功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89320" y="4160520"/>
            <a:ext cx="3246120" cy="502920"/>
          </a:xfrm>
          <a:prstGeom prst="roundRect">
            <a:avLst>
              <a:gd name="adj" fmla="val 50000"/>
            </a:avLst>
          </a:prstGeom>
          <a:solidFill>
            <a:srgbClr val="FFD0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89320" y="4160520"/>
            <a:ext cx="3246120" cy="5029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3A2A42"/>
                </a:solidFill>
                <a:latin typeface="Hiragino Sans GB"/>
                <a:ea typeface="Hiragino Sans GB"/>
                <a:cs typeface="Hiragino Sans GB"/>
              </a:rPr>
              <a:t>做好記得拍照打卡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4983480"/>
            <a:ext cx="9966960" cy="10058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7A6478"/>
                </a:solidFill>
                <a:latin typeface="Hiragino Sans GB"/>
                <a:ea typeface="Hiragino Sans GB"/>
                <a:cs typeface="Hiragino Sans GB"/>
              </a:rPr>
              <a:t>白涼粉記得煮沸、模具記得冷藏。
下一堂課，我們再做別的快樂甜點！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528816"/>
            <a:ext cx="877824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A6478"/>
                </a:solidFill>
                <a:latin typeface="Hiragino Sans GB"/>
                <a:ea typeface="Hiragino Sans GB"/>
                <a:cs typeface="Hiragino Sans GB"/>
              </a:rPr>
              <a:t>中式甜點動手做  ·  給國中同學的快樂食譜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378440" y="6510528"/>
            <a:ext cx="1325880" cy="256032"/>
          </a:xfrm>
          <a:prstGeom prst="roundRect">
            <a:avLst>
              <a:gd name="adj" fmla="val 50000"/>
            </a:avLst>
          </a:prstGeom>
          <a:solidFill>
            <a:srgbClr val="FF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378440" y="6510528"/>
            <a:ext cx="13258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17 / 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