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0" y="-1097280"/>
            <a:ext cx="7498079" cy="7498079"/>
          </a:xfrm>
          <a:prstGeom prst="ellipse">
            <a:avLst/>
          </a:prstGeom>
          <a:solidFill>
            <a:srgbClr val="FF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292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5C8A"/>
                </a:solidFill>
                <a:latin typeface="Hiragino Sans GB"/>
                <a:ea typeface="Hiragino Sans GB"/>
                <a:cs typeface="Hiragino Sans GB"/>
              </a:rPr>
              <a:t>國中生活科技／家政課  ·  動手做甜點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960120"/>
            <a:ext cx="731520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今天做兩款
超可愛中式甜點！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6949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青花瓷山藥糕  +  雪梨菊花銀耳凍
看圖就能做，步驟簡單、顏色超開心。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1965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免烤箱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352044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3520440"/>
            <a:ext cx="214884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冷藏就成型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5204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3520440"/>
            <a:ext cx="1965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好看又好吃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777240"/>
            <a:ext cx="4069080" cy="2331720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99248" y="841248"/>
            <a:ext cx="3941064" cy="22037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h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868680"/>
            <a:ext cx="3886200" cy="214884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635240" y="3291840"/>
            <a:ext cx="4069080" cy="2331720"/>
          </a:xfrm>
          <a:prstGeom prst="roundRect">
            <a:avLst>
              <a:gd name="adj" fmla="val 8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99248" y="3355848"/>
            <a:ext cx="3941064" cy="22037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xl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3383280"/>
            <a:ext cx="3886200" cy="2148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" y="5989320"/>
            <a:ext cx="6766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畫面來自原影片，照著做就對了。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5C8A"/>
                </a:solidFill>
                <a:latin typeface="Hiragino Sans GB"/>
                <a:ea typeface="Hiragino Sans GB"/>
                <a:cs typeface="Hiragino Sans GB"/>
              </a:rPr>
              <a:t>今天的甜點課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先來看今天的兩位主角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115568"/>
            <a:ext cx="5522976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91072" y="1115568"/>
            <a:ext cx="5522976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216" y="128016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280160"/>
            <a:ext cx="1097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28016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280160"/>
            <a:ext cx="1097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1261872"/>
            <a:ext cx="38404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青花瓷山藥糕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1261872"/>
            <a:ext cx="38404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雪梨菊花銀耳凍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1828800"/>
            <a:ext cx="5120640" cy="2880360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1892808"/>
            <a:ext cx="4992624" cy="275234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qh_d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20240"/>
            <a:ext cx="4937760" cy="269748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92240" y="1828800"/>
            <a:ext cx="5120640" cy="2880360"/>
          </a:xfrm>
          <a:prstGeom prst="roundRect">
            <a:avLst>
              <a:gd name="adj" fmla="val 8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6248" y="1892808"/>
            <a:ext cx="4992624" cy="275234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xl_st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20240"/>
            <a:ext cx="4937760" cy="26974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5216" y="4828032"/>
            <a:ext cx="51206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藍白雲紋包在透明凍裡，像一塊可以吃的小青花瓷。山藥香糯，外層 Q 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28032"/>
            <a:ext cx="51206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下面是雪梨銀耳凍，上面再放一顆藏著菊花的水晶球。清甜、潤喉、超漂亮。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安全小叮嚀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動手前，先記住這 4 件事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115568"/>
            <a:ext cx="5687568" cy="2267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1463040"/>
            <a:ext cx="713232" cy="71323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463040"/>
            <a:ext cx="713232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1499616"/>
            <a:ext cx="4206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刀子請小心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2075688"/>
            <a:ext cx="4206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削皮、切塊時手指要遠離刀刃。不熟的同學請老師幫忙。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115568"/>
            <a:ext cx="5687568" cy="2267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47104" y="1463040"/>
            <a:ext cx="713232" cy="713232"/>
          </a:xfrm>
          <a:prstGeom prst="ellipse">
            <a:avLst/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1463040"/>
            <a:ext cx="713232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499616"/>
            <a:ext cx="4206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熱的東西會燙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075688"/>
            <a:ext cx="4206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蒸箱、煮沸的湯和模具都燙手。戴隔熱手套，不要急著摸。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" y="3584448"/>
            <a:ext cx="5687568" cy="2267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3931920"/>
            <a:ext cx="713232" cy="713232"/>
          </a:xfrm>
          <a:prstGeom prst="ellipse">
            <a:avLst/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31920"/>
            <a:ext cx="713232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3968496"/>
            <a:ext cx="4206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建議戴手套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4544568"/>
            <a:ext cx="4206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山藥黏手又可能讓皮膚癢，揉麵團時請戴手套。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3584448"/>
            <a:ext cx="5687568" cy="2267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47104" y="3931920"/>
            <a:ext cx="713232" cy="713232"/>
          </a:xfrm>
          <a:prstGeom prst="ellipse">
            <a:avLst/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7104" y="3931920"/>
            <a:ext cx="713232" cy="7132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968496"/>
            <a:ext cx="42062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白涼粉要煮沸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544568"/>
            <a:ext cx="42062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不煮開就不會好好凝固。攪拌到粉完全化開，再倒模。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青花瓷山藥糕｜先把材料排好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115568"/>
            <a:ext cx="5623560" cy="3154680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" y="1179576"/>
            <a:ext cx="5495544" cy="3026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h_y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07008"/>
            <a:ext cx="5440680" cy="29718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84048" y="4389120"/>
            <a:ext cx="5623560" cy="1828800"/>
          </a:xfrm>
          <a:prstGeom prst="roundRect">
            <a:avLst>
              <a:gd name="adj" fmla="val 8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" y="4453128"/>
            <a:ext cx="5495544" cy="170078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h_reci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480560"/>
            <a:ext cx="5440680" cy="16459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217920" y="1115568"/>
            <a:ext cx="5577840" cy="5102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261872"/>
            <a:ext cx="512064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山藥團材料</a:t>
            </a:r>
          </a:p>
        </p:txBody>
      </p:sp>
      <p:sp>
        <p:nvSpPr>
          <p:cNvPr id="21" name="Oval 20"/>
          <p:cNvSpPr/>
          <p:nvPr/>
        </p:nvSpPr>
        <p:spPr>
          <a:xfrm>
            <a:off x="6510528" y="1810512"/>
            <a:ext cx="201168" cy="201168"/>
          </a:xfrm>
          <a:prstGeom prst="ellipse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737360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鐵棍山藥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737360"/>
            <a:ext cx="10972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320 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737360"/>
            <a:ext cx="1463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選這個口感更粉糯</a:t>
            </a:r>
          </a:p>
        </p:txBody>
      </p:sp>
      <p:sp>
        <p:nvSpPr>
          <p:cNvPr id="25" name="Oval 24"/>
          <p:cNvSpPr/>
          <p:nvPr/>
        </p:nvSpPr>
        <p:spPr>
          <a:xfrm>
            <a:off x="6510528" y="2249424"/>
            <a:ext cx="201168" cy="201168"/>
          </a:xfrm>
          <a:prstGeom prst="ellipse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176272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熟糯米粉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176272"/>
            <a:ext cx="10972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25 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76272"/>
            <a:ext cx="1463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讓它能搓成團</a:t>
            </a:r>
          </a:p>
        </p:txBody>
      </p:sp>
      <p:sp>
        <p:nvSpPr>
          <p:cNvPr id="29" name="Oval 28"/>
          <p:cNvSpPr/>
          <p:nvPr/>
        </p:nvSpPr>
        <p:spPr>
          <a:xfrm>
            <a:off x="6510528" y="2688336"/>
            <a:ext cx="201168" cy="201168"/>
          </a:xfrm>
          <a:prstGeom prst="ellipse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615184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白砂糖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615184"/>
            <a:ext cx="10972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25 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04120" y="2615184"/>
            <a:ext cx="1463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甜度剛剛好</a:t>
            </a:r>
          </a:p>
        </p:txBody>
      </p:sp>
      <p:sp>
        <p:nvSpPr>
          <p:cNvPr id="33" name="Oval 32"/>
          <p:cNvSpPr/>
          <p:nvPr/>
        </p:nvSpPr>
        <p:spPr>
          <a:xfrm>
            <a:off x="6510528" y="3127248"/>
            <a:ext cx="201168" cy="201168"/>
          </a:xfrm>
          <a:prstGeom prst="ellipse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054096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茯苓粉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054096"/>
            <a:ext cx="10972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10 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3054096"/>
            <a:ext cx="1463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參考「三白飲」</a:t>
            </a:r>
          </a:p>
        </p:txBody>
      </p:sp>
      <p:sp>
        <p:nvSpPr>
          <p:cNvPr id="37" name="Oval 36"/>
          <p:cNvSpPr/>
          <p:nvPr/>
        </p:nvSpPr>
        <p:spPr>
          <a:xfrm>
            <a:off x="6510528" y="3566160"/>
            <a:ext cx="201168" cy="201168"/>
          </a:xfrm>
          <a:prstGeom prst="ellipse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百合粉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3493008"/>
            <a:ext cx="10972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10 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4120" y="3493008"/>
            <a:ext cx="1463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一起揉進山藥泥</a:t>
            </a:r>
          </a:p>
        </p:txBody>
      </p:sp>
      <p:sp>
        <p:nvSpPr>
          <p:cNvPr id="41" name="Oval 40"/>
          <p:cNvSpPr/>
          <p:nvPr/>
        </p:nvSpPr>
        <p:spPr>
          <a:xfrm>
            <a:off x="6510528" y="4005072"/>
            <a:ext cx="201168" cy="201168"/>
          </a:xfrm>
          <a:prstGeom prst="ellipse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12280" y="3931920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蝶豆花粉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3931920"/>
            <a:ext cx="10972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適量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931920"/>
            <a:ext cx="146304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染出青花藍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572000"/>
            <a:ext cx="51206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透明外衣：椰子水 + 白涼粉（約 10：1）
可包喜歡的餡，也可以不包，直接搓球。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青花瓷山藥糕｜去皮、蒸熟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選鐵棍山藥，削皮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h_pe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做糕點要選鐵棍山藥，口感更好。戴手套削皮，黏液比較不會弄到手。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放進蒸烤箱蒸熟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qh_s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去皮後切段或切小塊，放入蒸烤箱蒸到筷子能輕易插入。熱熱的更好壓泥。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青花瓷山藥糕｜壓泥、揉團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B8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趁熱壓成細泥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B8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h_m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蒸熟取出，用壓泥器壓到細細滑滑、沒有顆粒。越細，成品越像瓷器。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加粉揉成團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qh_knea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加入熟糯米粉 25g、白砂糖 25g、茯苓粉 10g、百合粉 10g，揉到不黏手的光滑麵團。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青花瓷山藥糕｜染青花藍、包餡搓球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一份加蝶豆花粉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h_bl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麵團分成兩份。其中一份加少量蝶豆花粉，揉成漂亮的藍色。粉少少加，顏色才清透。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雙色混合，可包餡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qh_f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藍白兩色輕輕捏在一起，不要揉太勻，才有雲紋。可包喜歡的餡，再搓成圓球。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青花瓷山藥糕｜做透明外衣、入模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椰子水加白涼粉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h_whis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椰子水加白涼粉攪勻，煮沸。比例大約 10：1，例如 150 毫升椰子水配 15 克白涼粉。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倒模 → 放山藥團 → 再倒滿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qh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先倒一層進模具，稍稍定型後放入山藥團，再倒滿。冷藏定型，脫模就完成了！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第一款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完成！可以吃的小青花瓷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115568"/>
            <a:ext cx="7635240" cy="4297680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" y="1179576"/>
            <a:ext cx="7507224" cy="4169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h_d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07008"/>
            <a:ext cx="7452360" cy="41148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229600" y="1115568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32588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B8DFF"/>
                </a:solidFill>
                <a:latin typeface="Hiragino Sans GB"/>
                <a:ea typeface="Hiragino Sans GB"/>
                <a:cs typeface="Hiragino Sans GB"/>
              </a:rPr>
              <a:t>成功密技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1874519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•  藍白不要揉太開，紋路才像青花。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•  外衣要等底部稍凝，球才不會沉到底。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•  脫模前再冷藏一下，花紋更清楚。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•  現做現吃最嫩，也可以冰著當點心。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5532120"/>
            <a:ext cx="1133856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當傳統遇上創新，這方寸之間的瓷意糕點，就是我們今天的第一份作品。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雪梨菊花銀耳凍｜材料超簡單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115568"/>
            <a:ext cx="5623560" cy="5102352"/>
          </a:xfrm>
          <a:prstGeom prst="roundRect">
            <a:avLst>
              <a:gd name="adj" fmla="val 8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" y="1179576"/>
            <a:ext cx="5495544" cy="49743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xl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07008"/>
            <a:ext cx="5440680" cy="491947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217920" y="1115568"/>
            <a:ext cx="5577840" cy="5102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98448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分成兩層來做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51206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雪梨銀耳凍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21408"/>
            <a:ext cx="512064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雪梨銀耳湯 200 g
白涼粉 20 g
（先把雪梨、銀耳、冰糖煮成湯）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46120"/>
            <a:ext cx="51206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菊花凍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84448"/>
            <a:ext cx="5120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菊花茶 100 g
白涼粉 10 g
中間再放一朵泡好的菊花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5120640" cy="1234440"/>
          </a:xfrm>
          <a:prstGeom prst="roundRect">
            <a:avLst>
              <a:gd name="adj" fmla="val 12000"/>
            </a:avLst>
          </a:prstGeom>
          <a:solidFill>
            <a:srgbClr val="FFF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4828032"/>
            <a:ext cx="4800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好記口訣：湯／茶 : 白涼粉 ＝ 10 : 1
這樣凍起來 Q 彈又不會太硬。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雪梨菊花銀耳凍｜泡茶、處理雪梨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先泡一壺菊花茶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xl_bl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準備菊花，熱水沖泡備用。待會一半拿來做凍，一朵漂亮的花要藏進圓球裡。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雪梨去皮切小塊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xl_c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雪梨削皮、去核，切成均勻小丁。塊不要太大，煮起來更快，凍裡也比較好看。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雪梨菊花銀耳凍｜煮一鍋潤潤的湯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下鍋，加銀耳悶煮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xl_fung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雪梨丁放進熱水裡，再加入銀耳。蓋上蓋子悶煮大約半小時，讓銀耳出膠、湯變黏潤。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最後加冰糖煮沸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xl_sug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銀耳軟了以後，加入冰糖攪到溶化並煮沸。這鍋湯又香又甜，先聞一下超幸福。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雪梨菊花銀耳凍｜做成凍、倒進模具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取湯加白涼粉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4DC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xl_pow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舀出雪梨銀耳湯 200 克，加入白涼粉 20 克，攪勻煮沸。粉要完全化開，才不會一顆顆。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倒入模具冷藏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xl_mo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煮沸後趁熱舀進花形模具，連同雪梨塊和銀耳一起放。送進冰箱冷藏定型。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雪梨菊花銀耳凍｜做會開花的水晶球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B8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菊花茶加白涼粉煮沸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B8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xl_jupow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47088"/>
            <a:ext cx="4937760" cy="2724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另起一鍋，倒入泡好的菊花茶 100 克，加白涼粉 10 克，攪勻煮沸。顏色會淡淡金黃。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1078992"/>
            <a:ext cx="5522976" cy="5285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1243584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243584"/>
            <a:ext cx="10515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步驟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1225296"/>
            <a:ext cx="393192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倒模，中間放一朵花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755648"/>
            <a:ext cx="5120640" cy="2907792"/>
          </a:xfrm>
          <a:prstGeom prst="roundRect">
            <a:avLst>
              <a:gd name="adj" fmla="val 8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1819656"/>
            <a:ext cx="4992624" cy="27797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xl_flower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47088"/>
            <a:ext cx="4937760" cy="2724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47104" y="4773168"/>
            <a:ext cx="5029200" cy="13898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倒進圓球模具，用夾子放進一朵泡好的菊花，再補滿茶凍。冷藏定型就完成了！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第二款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疊在一起，像一朵會融化的秋日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115568"/>
            <a:ext cx="5522976" cy="3108960"/>
          </a:xfrm>
          <a:prstGeom prst="roundRect">
            <a:avLst>
              <a:gd name="adj" fmla="val 8000"/>
            </a:avLst>
          </a:prstGeom>
          <a:solidFill>
            <a:srgbClr val="2ED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" y="1179576"/>
            <a:ext cx="5394960" cy="298094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xl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207008"/>
            <a:ext cx="5340096" cy="29260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08192" y="1115568"/>
            <a:ext cx="5687568" cy="3108960"/>
          </a:xfrm>
          <a:prstGeom prst="roundRect">
            <a:avLst>
              <a:gd name="adj" fmla="val 8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179576"/>
            <a:ext cx="5559552" cy="298094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xl_st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07008"/>
            <a:ext cx="5504688" cy="29260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84048" y="4389120"/>
            <a:ext cx="1141171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F43"/>
                </a:solidFill>
                <a:latin typeface="Hiragino Sans GB"/>
                <a:ea typeface="Hiragino Sans GB"/>
                <a:cs typeface="Hiragino Sans GB"/>
              </a:rPr>
              <a:t>怎麼擺盤？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19472"/>
            <a:ext cx="10972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脫模後，先放上雪梨銀耳凍當底座，再把菊花水晶球輕輕放上去。想更漂亮，可以撒一點菊花碎、或連湯一起盛在小碗裡。銀耳的膠質鎖住雪梨的清甜，再搭配菊花凍的清雅——這不僅是味覺的享受。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201168"/>
            <a:ext cx="1143000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1168"/>
            <a:ext cx="146304" cy="713232"/>
          </a:xfrm>
          <a:prstGeom prst="roundRect">
            <a:avLst>
              <a:gd name="adj" fmla="val 4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1168"/>
            <a:ext cx="804672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5C8A"/>
                </a:solidFill>
                <a:latin typeface="Hiragino Sans GB"/>
                <a:ea typeface="Hiragino Sans GB"/>
                <a:cs typeface="Hiragino Sans GB"/>
              </a:rPr>
              <a:t>快速複習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20624"/>
            <a:ext cx="1078992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兩款對照，上課超好記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1097280"/>
            <a:ext cx="5522976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" y="1097280"/>
            <a:ext cx="5522976" cy="566928"/>
          </a:xfrm>
          <a:prstGeom prst="roundRect">
            <a:avLst>
              <a:gd name="adj" fmla="val 18000"/>
            </a:avLst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097280"/>
            <a:ext cx="5522976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青花瓷山藥糕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874519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1  鐵棍山藥去皮蒸熟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2  壓泥，加粉揉團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3  一份染成蝶豆花藍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4  雙色雲紋搓球（可包餡）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5  椰子凍倒模當外衣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6  冷藏脫模，完成青花瓷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1097280"/>
            <a:ext cx="5522976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91072" y="1097280"/>
            <a:ext cx="5522976" cy="566928"/>
          </a:xfrm>
          <a:prstGeom prst="roundRect">
            <a:avLst>
              <a:gd name="adj" fmla="val 18000"/>
            </a:avLst>
          </a:prstGeom>
          <a:solidFill>
            <a:srgbClr val="FF9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1097280"/>
            <a:ext cx="5522976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雪梨菊花銀耳凍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1874519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1  先泡菊花茶備用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2  雪梨切丁，加銀耳悶煮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3  冰糖煮沸成湯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4  湯＋白涼粉 → 雪梨凍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5  茶＋白涼粉＋菊花 → 花球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6  冷藏後疊在一起擺盤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822960"/>
            <a:ext cx="2926080" cy="2926080"/>
          </a:xfrm>
          <a:prstGeom prst="ellipse">
            <a:avLst/>
          </a:prstGeom>
          <a:solidFill>
            <a:srgbClr val="FF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548640"/>
            <a:ext cx="2377440" cy="2377440"/>
          </a:xfrm>
          <a:prstGeom prst="ellipse">
            <a:avLst/>
          </a:prstGeom>
          <a:solidFill>
            <a:srgbClr val="D6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5303520"/>
            <a:ext cx="1828800" cy="1828800"/>
          </a:xfrm>
          <a:prstGeom prst="ellipse">
            <a:avLst/>
          </a:prstGeom>
          <a:solidFill>
            <a:srgbClr val="FFEC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457200" y="5852160"/>
            <a:ext cx="1645920" cy="1645920"/>
          </a:xfrm>
          <a:prstGeom prst="ellipse">
            <a:avLst/>
          </a:prstGeom>
          <a:solidFill>
            <a:srgbClr val="D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11475720" y="868680"/>
            <a:ext cx="347472" cy="347472"/>
          </a:xfrm>
          <a:prstGeom prst="star5">
            <a:avLst/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56032" y="5989320"/>
            <a:ext cx="292608" cy="292608"/>
          </a:xfrm>
          <a:prstGeom prst="star5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74720" y="182880"/>
            <a:ext cx="5303520" cy="5303520"/>
          </a:xfrm>
          <a:prstGeom prst="ellipse">
            <a:avLst/>
          </a:prstGeom>
          <a:solidFill>
            <a:srgbClr val="FF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234440"/>
            <a:ext cx="106984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今天你學會了兩件事：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68880"/>
            <a:ext cx="96012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把山藥變成可以吃的青花瓷，
把一壺秋日甜湯變成會開花的果凍。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160520"/>
            <a:ext cx="2880360" cy="502920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4160520"/>
            <a:ext cx="28803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動手就會成功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160520"/>
            <a:ext cx="3246120" cy="502920"/>
          </a:xfrm>
          <a:prstGeom prst="roundRect">
            <a:avLst>
              <a:gd name="adj" fmla="val 50000"/>
            </a:avLst>
          </a:prstGeom>
          <a:solidFill>
            <a:srgbClr val="FFD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160520"/>
            <a:ext cx="3246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A2A42"/>
                </a:solidFill>
                <a:latin typeface="Hiragino Sans GB"/>
                <a:ea typeface="Hiragino Sans GB"/>
                <a:cs typeface="Hiragino Sans GB"/>
              </a:rPr>
              <a:t>做好記得拍照打卡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983480"/>
            <a:ext cx="996696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白涼粉記得煮沸、模具記得冷藏。
下一堂課，我們再做別的快樂甜點！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87782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A6478"/>
                </a:solidFill>
                <a:latin typeface="Hiragino Sans GB"/>
                <a:ea typeface="Hiragino Sans GB"/>
                <a:cs typeface="Hiragino Sans GB"/>
              </a:rPr>
              <a:t>中式甜點動手做  ·  給國中同學的快樂食譜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651052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6510528"/>
            <a:ext cx="1325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